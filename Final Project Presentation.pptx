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Merriweather"/>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Merriweather-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Merriweather-italic.fntdata"/><Relationship Id="rId12" Type="http://schemas.openxmlformats.org/officeDocument/2006/relationships/slide" Target="slides/slide6.xml"/><Relationship Id="rId34" Type="http://schemas.openxmlformats.org/officeDocument/2006/relationships/font" Target="fonts/Merriweather-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Merriweather-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6e7d5213b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6e7d5213b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ccf011fe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ccf011fe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6e7d5213bb_0_1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6e7d5213bb_0_1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6e7d5213bb_0_1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6e7d5213bb_0_1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6ecc6bfaf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6ecc6bfaf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6ed674df2c_1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26ed674df2c_1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6ed674df2c_1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26ed674df2c_1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6ed674df2c_1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26ed674df2c_1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6ed674df2c_1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26ed674df2c_1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6ed674df2c_1_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g26ed674df2c_1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6ed674df2c_1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26ed674df2c_1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6ed674df2c_1_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26ed674df2c_1_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6ed674df2c_1_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26ed674df2c_1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6ed674df2c_1_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26ed674df2c_1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6ed674df2c_1_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26ed674df2c_1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6ed674df2c_1_1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g26ed674df2c_1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6ed6b630e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6ed6b630e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6ed6b630ec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6ed6b630ec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6ed6b630ec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6ed6b630ec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6e7d5213bb_0_1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6e7d5213bb_0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cd17be5475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cd17be5475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6e7d5213bb_0_1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6e7d5213bb_0_1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6e7d5213bb_0_1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6e7d5213bb_0_1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6ed6b630ec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6ed6b630ec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6ecc6bfa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6ecc6bfa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6e7d5213bb_0_1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6e7d5213bb_0_1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cxnSp>
        <p:nvCxnSpPr>
          <p:cNvPr id="51" name="Google Shape;51;p13"/>
          <p:cNvCxnSpPr/>
          <p:nvPr/>
        </p:nvCxnSpPr>
        <p:spPr>
          <a:xfrm>
            <a:off x="722950" y="999400"/>
            <a:ext cx="7686600" cy="0"/>
          </a:xfrm>
          <a:prstGeom prst="straightConnector1">
            <a:avLst/>
          </a:prstGeom>
          <a:noFill/>
          <a:ln cap="flat" cmpd="sng" w="19050">
            <a:solidFill>
              <a:schemeClr val="accent2"/>
            </a:solidFill>
            <a:prstDash val="solid"/>
            <a:round/>
            <a:headEnd len="med" w="med" type="none"/>
            <a:tailEnd len="med" w="med" type="none"/>
          </a:ln>
        </p:spPr>
      </p:cxnSp>
      <p:sp>
        <p:nvSpPr>
          <p:cNvPr id="52" name="Google Shape;52;p13"/>
          <p:cNvSpPr txBox="1"/>
          <p:nvPr>
            <p:ph type="ctrTitle"/>
          </p:nvPr>
        </p:nvSpPr>
        <p:spPr>
          <a:xfrm>
            <a:off x="1597800" y="441187"/>
            <a:ext cx="5933400" cy="422700"/>
          </a:xfrm>
          <a:prstGeom prst="rect">
            <a:avLst/>
          </a:prstGeom>
          <a:noFill/>
        </p:spPr>
        <p:txBody>
          <a:bodyPr anchorCtr="0" anchor="ctr" bIns="91425" lIns="91425" spcFirstLastPara="1" rIns="91425" wrap="square" tIns="91425">
            <a:normAutofit/>
          </a:bodyPr>
          <a:lstStyle>
            <a:lvl1pPr lvl="0" rtl="0" algn="ctr">
              <a:spcBef>
                <a:spcPts val="0"/>
              </a:spcBef>
              <a:spcAft>
                <a:spcPts val="0"/>
              </a:spcAft>
              <a:buSzPts val="2800"/>
              <a:buFont typeface="Merriweather"/>
              <a:buNone/>
              <a:defRPr b="1" sz="3600">
                <a:latin typeface="Merriweather"/>
                <a:ea typeface="Merriweather"/>
                <a:cs typeface="Merriweather"/>
                <a:sym typeface="Merriweather"/>
              </a:defRPr>
            </a:lvl1pPr>
            <a:lvl2pPr lvl="1" rtl="0">
              <a:spcBef>
                <a:spcPts val="0"/>
              </a:spcBef>
              <a:spcAft>
                <a:spcPts val="0"/>
              </a:spcAft>
              <a:buSzPts val="5200"/>
              <a:buFont typeface="Merriweather"/>
              <a:buNone/>
              <a:defRPr b="1" sz="5200">
                <a:latin typeface="Merriweather"/>
                <a:ea typeface="Merriweather"/>
                <a:cs typeface="Merriweather"/>
                <a:sym typeface="Merriweather"/>
              </a:defRPr>
            </a:lvl2pPr>
            <a:lvl3pPr lvl="2" rtl="0">
              <a:spcBef>
                <a:spcPts val="0"/>
              </a:spcBef>
              <a:spcAft>
                <a:spcPts val="0"/>
              </a:spcAft>
              <a:buSzPts val="5200"/>
              <a:buFont typeface="Merriweather"/>
              <a:buNone/>
              <a:defRPr b="1" sz="5200">
                <a:latin typeface="Merriweather"/>
                <a:ea typeface="Merriweather"/>
                <a:cs typeface="Merriweather"/>
                <a:sym typeface="Merriweather"/>
              </a:defRPr>
            </a:lvl3pPr>
            <a:lvl4pPr lvl="3" rtl="0">
              <a:spcBef>
                <a:spcPts val="0"/>
              </a:spcBef>
              <a:spcAft>
                <a:spcPts val="0"/>
              </a:spcAft>
              <a:buSzPts val="5200"/>
              <a:buFont typeface="Merriweather"/>
              <a:buNone/>
              <a:defRPr b="1" sz="5200">
                <a:latin typeface="Merriweather"/>
                <a:ea typeface="Merriweather"/>
                <a:cs typeface="Merriweather"/>
                <a:sym typeface="Merriweather"/>
              </a:defRPr>
            </a:lvl4pPr>
            <a:lvl5pPr lvl="4" rtl="0">
              <a:spcBef>
                <a:spcPts val="0"/>
              </a:spcBef>
              <a:spcAft>
                <a:spcPts val="0"/>
              </a:spcAft>
              <a:buSzPts val="5200"/>
              <a:buFont typeface="Merriweather"/>
              <a:buNone/>
              <a:defRPr b="1" sz="5200">
                <a:latin typeface="Merriweather"/>
                <a:ea typeface="Merriweather"/>
                <a:cs typeface="Merriweather"/>
                <a:sym typeface="Merriweather"/>
              </a:defRPr>
            </a:lvl5pPr>
            <a:lvl6pPr lvl="5" rtl="0">
              <a:spcBef>
                <a:spcPts val="0"/>
              </a:spcBef>
              <a:spcAft>
                <a:spcPts val="0"/>
              </a:spcAft>
              <a:buSzPts val="5200"/>
              <a:buFont typeface="Merriweather"/>
              <a:buNone/>
              <a:defRPr b="1" sz="5200">
                <a:latin typeface="Merriweather"/>
                <a:ea typeface="Merriweather"/>
                <a:cs typeface="Merriweather"/>
                <a:sym typeface="Merriweather"/>
              </a:defRPr>
            </a:lvl6pPr>
            <a:lvl7pPr lvl="6" rtl="0">
              <a:spcBef>
                <a:spcPts val="0"/>
              </a:spcBef>
              <a:spcAft>
                <a:spcPts val="0"/>
              </a:spcAft>
              <a:buSzPts val="5200"/>
              <a:buFont typeface="Merriweather"/>
              <a:buNone/>
              <a:defRPr b="1" sz="5200">
                <a:latin typeface="Merriweather"/>
                <a:ea typeface="Merriweather"/>
                <a:cs typeface="Merriweather"/>
                <a:sym typeface="Merriweather"/>
              </a:defRPr>
            </a:lvl7pPr>
            <a:lvl8pPr lvl="7" rtl="0">
              <a:spcBef>
                <a:spcPts val="0"/>
              </a:spcBef>
              <a:spcAft>
                <a:spcPts val="0"/>
              </a:spcAft>
              <a:buSzPts val="5200"/>
              <a:buFont typeface="Merriweather"/>
              <a:buNone/>
              <a:defRPr b="1" sz="5200">
                <a:latin typeface="Merriweather"/>
                <a:ea typeface="Merriweather"/>
                <a:cs typeface="Merriweather"/>
                <a:sym typeface="Merriweather"/>
              </a:defRPr>
            </a:lvl8pPr>
            <a:lvl9pPr lvl="8" rtl="0">
              <a:spcBef>
                <a:spcPts val="0"/>
              </a:spcBef>
              <a:spcAft>
                <a:spcPts val="0"/>
              </a:spcAft>
              <a:buSzPts val="5200"/>
              <a:buFont typeface="Merriweather"/>
              <a:buNone/>
              <a:defRPr b="1" sz="5200">
                <a:latin typeface="Merriweather"/>
                <a:ea typeface="Merriweather"/>
                <a:cs typeface="Merriweather"/>
                <a:sym typeface="Merriweather"/>
              </a:defRPr>
            </a:lvl9pPr>
          </a:lstStyle>
          <a:p/>
        </p:txBody>
      </p:sp>
      <p:sp>
        <p:nvSpPr>
          <p:cNvPr id="53" name="Google Shape;53;p13"/>
          <p:cNvSpPr txBox="1"/>
          <p:nvPr>
            <p:ph idx="1" type="subTitle"/>
          </p:nvPr>
        </p:nvSpPr>
        <p:spPr>
          <a:xfrm>
            <a:off x="721200" y="1396800"/>
            <a:ext cx="7686600" cy="6408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SzPts val="1400"/>
              <a:buFont typeface="Roboto"/>
              <a:buNone/>
              <a:defRPr sz="2000">
                <a:latin typeface="Merriweather"/>
                <a:ea typeface="Merriweather"/>
                <a:cs typeface="Merriweather"/>
                <a:sym typeface="Merriweather"/>
              </a:defRPr>
            </a:lvl1pPr>
            <a:lvl2pPr lvl="1" rtl="0" algn="just">
              <a:lnSpc>
                <a:spcPct val="100000"/>
              </a:lnSpc>
              <a:spcBef>
                <a:spcPts val="0"/>
              </a:spcBef>
              <a:spcAft>
                <a:spcPts val="0"/>
              </a:spcAft>
              <a:buSzPts val="1400"/>
              <a:buNone/>
              <a:defRPr/>
            </a:lvl2pPr>
            <a:lvl3pPr lvl="2" rtl="0" algn="just">
              <a:lnSpc>
                <a:spcPct val="100000"/>
              </a:lnSpc>
              <a:spcBef>
                <a:spcPts val="0"/>
              </a:spcBef>
              <a:spcAft>
                <a:spcPts val="0"/>
              </a:spcAft>
              <a:buSzPts val="1400"/>
              <a:buNone/>
              <a:defRPr/>
            </a:lvl3pPr>
            <a:lvl4pPr lvl="3" rtl="0" algn="just">
              <a:lnSpc>
                <a:spcPct val="100000"/>
              </a:lnSpc>
              <a:spcBef>
                <a:spcPts val="0"/>
              </a:spcBef>
              <a:spcAft>
                <a:spcPts val="0"/>
              </a:spcAft>
              <a:buSzPts val="1400"/>
              <a:buNone/>
              <a:defRPr/>
            </a:lvl4pPr>
            <a:lvl5pPr lvl="4" rtl="0" algn="just">
              <a:lnSpc>
                <a:spcPct val="100000"/>
              </a:lnSpc>
              <a:spcBef>
                <a:spcPts val="0"/>
              </a:spcBef>
              <a:spcAft>
                <a:spcPts val="0"/>
              </a:spcAft>
              <a:buSzPts val="1400"/>
              <a:buNone/>
              <a:defRPr/>
            </a:lvl5pPr>
            <a:lvl6pPr lvl="5" rtl="0" algn="just">
              <a:lnSpc>
                <a:spcPct val="100000"/>
              </a:lnSpc>
              <a:spcBef>
                <a:spcPts val="0"/>
              </a:spcBef>
              <a:spcAft>
                <a:spcPts val="0"/>
              </a:spcAft>
              <a:buSzPts val="1400"/>
              <a:buNone/>
              <a:defRPr/>
            </a:lvl6pPr>
            <a:lvl7pPr lvl="6" rtl="0" algn="just">
              <a:lnSpc>
                <a:spcPct val="100000"/>
              </a:lnSpc>
              <a:spcBef>
                <a:spcPts val="0"/>
              </a:spcBef>
              <a:spcAft>
                <a:spcPts val="0"/>
              </a:spcAft>
              <a:buSzPts val="1400"/>
              <a:buNone/>
              <a:defRPr/>
            </a:lvl7pPr>
            <a:lvl8pPr lvl="7" rtl="0" algn="just">
              <a:lnSpc>
                <a:spcPct val="100000"/>
              </a:lnSpc>
              <a:spcBef>
                <a:spcPts val="0"/>
              </a:spcBef>
              <a:spcAft>
                <a:spcPts val="0"/>
              </a:spcAft>
              <a:buSzPts val="1400"/>
              <a:buNone/>
              <a:defRPr/>
            </a:lvl8pPr>
            <a:lvl9pPr lvl="8" rtl="0" algn="just">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8" name="Shape 58"/>
        <p:cNvGrpSpPr/>
        <p:nvPr/>
      </p:nvGrpSpPr>
      <p:grpSpPr>
        <a:xfrm>
          <a:off x="0" y="0"/>
          <a:ext cx="0" cy="0"/>
          <a:chOff x="0" y="0"/>
          <a:chExt cx="0" cy="0"/>
        </a:xfrm>
      </p:grpSpPr>
      <p:cxnSp>
        <p:nvCxnSpPr>
          <p:cNvPr id="59" name="Google Shape;59;p15"/>
          <p:cNvCxnSpPr/>
          <p:nvPr/>
        </p:nvCxnSpPr>
        <p:spPr>
          <a:xfrm>
            <a:off x="722950" y="999400"/>
            <a:ext cx="7686600" cy="0"/>
          </a:xfrm>
          <a:prstGeom prst="straightConnector1">
            <a:avLst/>
          </a:prstGeom>
          <a:noFill/>
          <a:ln cap="flat" cmpd="sng" w="19050">
            <a:solidFill>
              <a:schemeClr val="accent2"/>
            </a:solidFill>
            <a:prstDash val="solid"/>
            <a:round/>
            <a:headEnd len="sm" w="sm" type="none"/>
            <a:tailEnd len="sm" w="sm" type="none"/>
          </a:ln>
        </p:spPr>
      </p:cxnSp>
      <p:sp>
        <p:nvSpPr>
          <p:cNvPr id="60" name="Google Shape;60;p15"/>
          <p:cNvSpPr txBox="1"/>
          <p:nvPr>
            <p:ph type="ctrTitle"/>
          </p:nvPr>
        </p:nvSpPr>
        <p:spPr>
          <a:xfrm>
            <a:off x="1597800" y="441187"/>
            <a:ext cx="5933400" cy="4227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800"/>
              <a:buFont typeface="Merriweather"/>
              <a:buNone/>
              <a:defRPr b="1" sz="3600">
                <a:latin typeface="Merriweather"/>
                <a:ea typeface="Merriweather"/>
                <a:cs typeface="Merriweather"/>
                <a:sym typeface="Merriweather"/>
              </a:defRPr>
            </a:lvl1pPr>
            <a:lvl2pPr lvl="1" algn="l">
              <a:lnSpc>
                <a:spcPct val="100000"/>
              </a:lnSpc>
              <a:spcBef>
                <a:spcPts val="0"/>
              </a:spcBef>
              <a:spcAft>
                <a:spcPts val="0"/>
              </a:spcAft>
              <a:buSzPts val="5200"/>
              <a:buFont typeface="Merriweather"/>
              <a:buNone/>
              <a:defRPr b="1" sz="5200">
                <a:latin typeface="Merriweather"/>
                <a:ea typeface="Merriweather"/>
                <a:cs typeface="Merriweather"/>
                <a:sym typeface="Merriweather"/>
              </a:defRPr>
            </a:lvl2pPr>
            <a:lvl3pPr lvl="2" algn="l">
              <a:lnSpc>
                <a:spcPct val="100000"/>
              </a:lnSpc>
              <a:spcBef>
                <a:spcPts val="0"/>
              </a:spcBef>
              <a:spcAft>
                <a:spcPts val="0"/>
              </a:spcAft>
              <a:buSzPts val="5200"/>
              <a:buFont typeface="Merriweather"/>
              <a:buNone/>
              <a:defRPr b="1" sz="5200">
                <a:latin typeface="Merriweather"/>
                <a:ea typeface="Merriweather"/>
                <a:cs typeface="Merriweather"/>
                <a:sym typeface="Merriweather"/>
              </a:defRPr>
            </a:lvl3pPr>
            <a:lvl4pPr lvl="3" algn="l">
              <a:lnSpc>
                <a:spcPct val="100000"/>
              </a:lnSpc>
              <a:spcBef>
                <a:spcPts val="0"/>
              </a:spcBef>
              <a:spcAft>
                <a:spcPts val="0"/>
              </a:spcAft>
              <a:buSzPts val="5200"/>
              <a:buFont typeface="Merriweather"/>
              <a:buNone/>
              <a:defRPr b="1" sz="5200">
                <a:latin typeface="Merriweather"/>
                <a:ea typeface="Merriweather"/>
                <a:cs typeface="Merriweather"/>
                <a:sym typeface="Merriweather"/>
              </a:defRPr>
            </a:lvl4pPr>
            <a:lvl5pPr lvl="4" algn="l">
              <a:lnSpc>
                <a:spcPct val="100000"/>
              </a:lnSpc>
              <a:spcBef>
                <a:spcPts val="0"/>
              </a:spcBef>
              <a:spcAft>
                <a:spcPts val="0"/>
              </a:spcAft>
              <a:buSzPts val="5200"/>
              <a:buFont typeface="Merriweather"/>
              <a:buNone/>
              <a:defRPr b="1" sz="5200">
                <a:latin typeface="Merriweather"/>
                <a:ea typeface="Merriweather"/>
                <a:cs typeface="Merriweather"/>
                <a:sym typeface="Merriweather"/>
              </a:defRPr>
            </a:lvl5pPr>
            <a:lvl6pPr lvl="5" algn="l">
              <a:lnSpc>
                <a:spcPct val="100000"/>
              </a:lnSpc>
              <a:spcBef>
                <a:spcPts val="0"/>
              </a:spcBef>
              <a:spcAft>
                <a:spcPts val="0"/>
              </a:spcAft>
              <a:buSzPts val="5200"/>
              <a:buFont typeface="Merriweather"/>
              <a:buNone/>
              <a:defRPr b="1" sz="5200">
                <a:latin typeface="Merriweather"/>
                <a:ea typeface="Merriweather"/>
                <a:cs typeface="Merriweather"/>
                <a:sym typeface="Merriweather"/>
              </a:defRPr>
            </a:lvl6pPr>
            <a:lvl7pPr lvl="6" algn="l">
              <a:lnSpc>
                <a:spcPct val="100000"/>
              </a:lnSpc>
              <a:spcBef>
                <a:spcPts val="0"/>
              </a:spcBef>
              <a:spcAft>
                <a:spcPts val="0"/>
              </a:spcAft>
              <a:buSzPts val="5200"/>
              <a:buFont typeface="Merriweather"/>
              <a:buNone/>
              <a:defRPr b="1" sz="5200">
                <a:latin typeface="Merriweather"/>
                <a:ea typeface="Merriweather"/>
                <a:cs typeface="Merriweather"/>
                <a:sym typeface="Merriweather"/>
              </a:defRPr>
            </a:lvl7pPr>
            <a:lvl8pPr lvl="7" algn="l">
              <a:lnSpc>
                <a:spcPct val="100000"/>
              </a:lnSpc>
              <a:spcBef>
                <a:spcPts val="0"/>
              </a:spcBef>
              <a:spcAft>
                <a:spcPts val="0"/>
              </a:spcAft>
              <a:buSzPts val="5200"/>
              <a:buFont typeface="Merriweather"/>
              <a:buNone/>
              <a:defRPr b="1" sz="5200">
                <a:latin typeface="Merriweather"/>
                <a:ea typeface="Merriweather"/>
                <a:cs typeface="Merriweather"/>
                <a:sym typeface="Merriweather"/>
              </a:defRPr>
            </a:lvl8pPr>
            <a:lvl9pPr lvl="8" algn="l">
              <a:lnSpc>
                <a:spcPct val="100000"/>
              </a:lnSpc>
              <a:spcBef>
                <a:spcPts val="0"/>
              </a:spcBef>
              <a:spcAft>
                <a:spcPts val="0"/>
              </a:spcAft>
              <a:buSzPts val="5200"/>
              <a:buFont typeface="Merriweather"/>
              <a:buNone/>
              <a:defRPr b="1" sz="5200">
                <a:latin typeface="Merriweather"/>
                <a:ea typeface="Merriweather"/>
                <a:cs typeface="Merriweather"/>
                <a:sym typeface="Merriweather"/>
              </a:defRPr>
            </a:lvl9pPr>
          </a:lstStyle>
          <a:p/>
        </p:txBody>
      </p:sp>
      <p:sp>
        <p:nvSpPr>
          <p:cNvPr id="61" name="Google Shape;61;p15"/>
          <p:cNvSpPr txBox="1"/>
          <p:nvPr>
            <p:ph idx="1" type="subTitle"/>
          </p:nvPr>
        </p:nvSpPr>
        <p:spPr>
          <a:xfrm>
            <a:off x="721200" y="1396800"/>
            <a:ext cx="7686600" cy="640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1400"/>
              <a:buFont typeface="Roboto"/>
              <a:buNone/>
              <a:defRPr sz="2000">
                <a:latin typeface="Merriweather"/>
                <a:ea typeface="Merriweather"/>
                <a:cs typeface="Merriweather"/>
                <a:sym typeface="Merriweather"/>
              </a:defRPr>
            </a:lvl1pPr>
            <a:lvl2pPr lvl="1" algn="just">
              <a:lnSpc>
                <a:spcPct val="100000"/>
              </a:lnSpc>
              <a:spcBef>
                <a:spcPts val="0"/>
              </a:spcBef>
              <a:spcAft>
                <a:spcPts val="0"/>
              </a:spcAft>
              <a:buSzPts val="1400"/>
              <a:buNone/>
              <a:defRPr/>
            </a:lvl2pPr>
            <a:lvl3pPr lvl="2" algn="just">
              <a:lnSpc>
                <a:spcPct val="100000"/>
              </a:lnSpc>
              <a:spcBef>
                <a:spcPts val="0"/>
              </a:spcBef>
              <a:spcAft>
                <a:spcPts val="0"/>
              </a:spcAft>
              <a:buSzPts val="1400"/>
              <a:buNone/>
              <a:defRPr/>
            </a:lvl3pPr>
            <a:lvl4pPr lvl="3" algn="just">
              <a:lnSpc>
                <a:spcPct val="100000"/>
              </a:lnSpc>
              <a:spcBef>
                <a:spcPts val="0"/>
              </a:spcBef>
              <a:spcAft>
                <a:spcPts val="0"/>
              </a:spcAft>
              <a:buSzPts val="1400"/>
              <a:buNone/>
              <a:defRPr/>
            </a:lvl4pPr>
            <a:lvl5pPr lvl="4" algn="just">
              <a:lnSpc>
                <a:spcPct val="100000"/>
              </a:lnSpc>
              <a:spcBef>
                <a:spcPts val="0"/>
              </a:spcBef>
              <a:spcAft>
                <a:spcPts val="0"/>
              </a:spcAft>
              <a:buSzPts val="1400"/>
              <a:buNone/>
              <a:defRPr/>
            </a:lvl5pPr>
            <a:lvl6pPr lvl="5" algn="just">
              <a:lnSpc>
                <a:spcPct val="100000"/>
              </a:lnSpc>
              <a:spcBef>
                <a:spcPts val="0"/>
              </a:spcBef>
              <a:spcAft>
                <a:spcPts val="0"/>
              </a:spcAft>
              <a:buSzPts val="1400"/>
              <a:buNone/>
              <a:defRPr/>
            </a:lvl6pPr>
            <a:lvl7pPr lvl="6" algn="just">
              <a:lnSpc>
                <a:spcPct val="100000"/>
              </a:lnSpc>
              <a:spcBef>
                <a:spcPts val="0"/>
              </a:spcBef>
              <a:spcAft>
                <a:spcPts val="0"/>
              </a:spcAft>
              <a:buSzPts val="1400"/>
              <a:buNone/>
              <a:defRPr/>
            </a:lvl7pPr>
            <a:lvl8pPr lvl="7" algn="just">
              <a:lnSpc>
                <a:spcPct val="100000"/>
              </a:lnSpc>
              <a:spcBef>
                <a:spcPts val="0"/>
              </a:spcBef>
              <a:spcAft>
                <a:spcPts val="0"/>
              </a:spcAft>
              <a:buSzPts val="1400"/>
              <a:buNone/>
              <a:defRPr/>
            </a:lvl8pPr>
            <a:lvl9pPr lvl="8" algn="just">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2" name="Shape 62"/>
        <p:cNvGrpSpPr/>
        <p:nvPr/>
      </p:nvGrpSpPr>
      <p:grpSpPr>
        <a:xfrm>
          <a:off x="0" y="0"/>
          <a:ext cx="0" cy="0"/>
          <a:chOff x="0" y="0"/>
          <a:chExt cx="0" cy="0"/>
        </a:xfrm>
      </p:grpSpPr>
      <p:sp>
        <p:nvSpPr>
          <p:cNvPr id="63" name="Google Shape;63;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4" name="Google Shape;64;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5" name="Google Shape;6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8" name="Google Shape;6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9" name="Shape 69"/>
        <p:cNvGrpSpPr/>
        <p:nvPr/>
      </p:nvGrpSpPr>
      <p:grpSpPr>
        <a:xfrm>
          <a:off x="0" y="0"/>
          <a:ext cx="0" cy="0"/>
          <a:chOff x="0" y="0"/>
          <a:chExt cx="0" cy="0"/>
        </a:xfrm>
      </p:grpSpPr>
      <p:sp>
        <p:nvSpPr>
          <p:cNvPr id="70" name="Google Shape;70;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1" name="Google Shape;71;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 name="Google Shape;75;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7" name="Google Shape;77;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0" name="Google Shape;8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1" name="Shape 81"/>
        <p:cNvGrpSpPr/>
        <p:nvPr/>
      </p:nvGrpSpPr>
      <p:grpSpPr>
        <a:xfrm>
          <a:off x="0" y="0"/>
          <a:ext cx="0" cy="0"/>
          <a:chOff x="0" y="0"/>
          <a:chExt cx="0" cy="0"/>
        </a:xfrm>
      </p:grpSpPr>
      <p:sp>
        <p:nvSpPr>
          <p:cNvPr id="82" name="Google Shape;82;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3" name="Google Shape;83;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4" name="Google Shape;84;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7" name="Google Shape;8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8" name="Shape 88"/>
        <p:cNvGrpSpPr/>
        <p:nvPr/>
      </p:nvGrpSpPr>
      <p:grpSpPr>
        <a:xfrm>
          <a:off x="0" y="0"/>
          <a:ext cx="0" cy="0"/>
          <a:chOff x="0" y="0"/>
          <a:chExt cx="0" cy="0"/>
        </a:xfrm>
      </p:grpSpPr>
      <p:sp>
        <p:nvSpPr>
          <p:cNvPr id="89" name="Google Shape;89;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1" name="Google Shape;91;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2" name="Google Shape;92;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3" name="Google Shape;93;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6" name="Google Shape;9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7" name="Shape 97"/>
        <p:cNvGrpSpPr/>
        <p:nvPr/>
      </p:nvGrpSpPr>
      <p:grpSpPr>
        <a:xfrm>
          <a:off x="0" y="0"/>
          <a:ext cx="0" cy="0"/>
          <a:chOff x="0" y="0"/>
          <a:chExt cx="0" cy="0"/>
        </a:xfrm>
      </p:grpSpPr>
      <p:sp>
        <p:nvSpPr>
          <p:cNvPr id="98" name="Google Shape;9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3.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4" name="Shape 54"/>
        <p:cNvGrpSpPr/>
        <p:nvPr/>
      </p:nvGrpSpPr>
      <p:grpSpPr>
        <a:xfrm>
          <a:off x="0" y="0"/>
          <a:ext cx="0" cy="0"/>
          <a:chOff x="0" y="0"/>
          <a:chExt cx="0" cy="0"/>
        </a:xfrm>
      </p:grpSpPr>
      <p:sp>
        <p:nvSpPr>
          <p:cNvPr id="55" name="Google Shape;55;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6" name="Google Shape;56;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6"/>
          <p:cNvSpPr txBox="1"/>
          <p:nvPr>
            <p:ph type="ctrTitle"/>
          </p:nvPr>
        </p:nvSpPr>
        <p:spPr>
          <a:xfrm>
            <a:off x="721500" y="441175"/>
            <a:ext cx="7686600" cy="42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highlight>
                  <a:srgbClr val="FFFFFF"/>
                </a:highlight>
              </a:rPr>
              <a:t>Recommendation System of News Based on Impression Logs</a:t>
            </a:r>
            <a:endParaRPr sz="2200"/>
          </a:p>
        </p:txBody>
      </p:sp>
      <p:pic>
        <p:nvPicPr>
          <p:cNvPr id="104" name="Google Shape;104;p26"/>
          <p:cNvPicPr preferRelativeResize="0"/>
          <p:nvPr/>
        </p:nvPicPr>
        <p:blipFill rotWithShape="1">
          <a:blip r:embed="rId3">
            <a:alphaModFix/>
          </a:blip>
          <a:srcRect b="33884" l="0" r="0" t="16043"/>
          <a:stretch/>
        </p:blipFill>
        <p:spPr>
          <a:xfrm>
            <a:off x="721500" y="2037600"/>
            <a:ext cx="7686600" cy="2565275"/>
          </a:xfrm>
          <a:prstGeom prst="rect">
            <a:avLst/>
          </a:prstGeom>
          <a:noFill/>
          <a:ln>
            <a:noFill/>
          </a:ln>
        </p:spPr>
      </p:pic>
      <p:sp>
        <p:nvSpPr>
          <p:cNvPr id="105" name="Google Shape;105;p26"/>
          <p:cNvSpPr txBox="1"/>
          <p:nvPr>
            <p:ph idx="1" type="subTitle"/>
          </p:nvPr>
        </p:nvSpPr>
        <p:spPr>
          <a:xfrm>
            <a:off x="721200" y="1396800"/>
            <a:ext cx="7686600" cy="64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Presented by: </a:t>
            </a:r>
            <a:r>
              <a:rPr lang="en">
                <a:highlight>
                  <a:srgbClr val="FFFFFF"/>
                </a:highlight>
              </a:rPr>
              <a:t>Luna Zhu, Jure Sindi, Xuan Wu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7"/>
          <p:cNvSpPr txBox="1"/>
          <p:nvPr>
            <p:ph type="ctrTitle"/>
          </p:nvPr>
        </p:nvSpPr>
        <p:spPr>
          <a:xfrm>
            <a:off x="1597800" y="441187"/>
            <a:ext cx="5933400" cy="42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100">
                <a:highlight>
                  <a:srgbClr val="FFFFFF"/>
                </a:highlight>
              </a:rPr>
              <a:t>The Problem</a:t>
            </a:r>
            <a:endParaRPr sz="3100"/>
          </a:p>
        </p:txBody>
      </p:sp>
      <p:sp>
        <p:nvSpPr>
          <p:cNvPr id="111" name="Google Shape;111;p27"/>
          <p:cNvSpPr txBox="1"/>
          <p:nvPr>
            <p:ph idx="1" type="subTitle"/>
          </p:nvPr>
        </p:nvSpPr>
        <p:spPr>
          <a:xfrm>
            <a:off x="1208925" y="1124550"/>
            <a:ext cx="7176300" cy="11916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300">
                <a:highlight>
                  <a:srgbClr val="FFFFFF"/>
                </a:highlight>
              </a:rPr>
              <a:t>The problem that we are aiming to study in this project  is identifying biases in news recommendation algorithms, such as overexposure to certain topics or </a:t>
            </a:r>
            <a:r>
              <a:rPr lang="en" sz="1300">
                <a:highlight>
                  <a:srgbClr val="FFFFFF"/>
                </a:highlight>
              </a:rPr>
              <a:t>underrepresentation</a:t>
            </a:r>
            <a:r>
              <a:rPr lang="en" sz="1300">
                <a:highlight>
                  <a:srgbClr val="FFFFFF"/>
                </a:highlight>
              </a:rPr>
              <a:t> of others, and developing methods to mitigate these biases.</a:t>
            </a:r>
            <a:endParaRPr sz="1300"/>
          </a:p>
        </p:txBody>
      </p:sp>
      <p:grpSp>
        <p:nvGrpSpPr>
          <p:cNvPr id="112" name="Google Shape;112;p27"/>
          <p:cNvGrpSpPr/>
          <p:nvPr/>
        </p:nvGrpSpPr>
        <p:grpSpPr>
          <a:xfrm>
            <a:off x="745650" y="1470197"/>
            <a:ext cx="375000" cy="323700"/>
            <a:chOff x="4304850" y="2232497"/>
            <a:chExt cx="375000" cy="323700"/>
          </a:xfrm>
        </p:grpSpPr>
        <p:sp>
          <p:nvSpPr>
            <p:cNvPr id="113" name="Google Shape;113;p27"/>
            <p:cNvSpPr/>
            <p:nvPr/>
          </p:nvSpPr>
          <p:spPr>
            <a:xfrm>
              <a:off x="4304850" y="2232497"/>
              <a:ext cx="375000" cy="323700"/>
            </a:xfrm>
            <a:prstGeom prst="rect">
              <a:avLst/>
            </a:prstGeom>
            <a:solidFill>
              <a:schemeClr val="dk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000">
                <a:solidFill>
                  <a:schemeClr val="lt1"/>
                </a:solidFill>
                <a:latin typeface="Merriweather"/>
                <a:ea typeface="Merriweather"/>
                <a:cs typeface="Merriweather"/>
                <a:sym typeface="Merriweather"/>
              </a:endParaRPr>
            </a:p>
          </p:txBody>
        </p:sp>
        <p:sp>
          <p:nvSpPr>
            <p:cNvPr id="114" name="Google Shape;114;p27"/>
            <p:cNvSpPr/>
            <p:nvPr/>
          </p:nvSpPr>
          <p:spPr>
            <a:xfrm>
              <a:off x="4373658" y="2272758"/>
              <a:ext cx="237371" cy="243187"/>
            </a:xfrm>
            <a:custGeom>
              <a:rect b="b" l="l" r="r" t="t"/>
              <a:pathLst>
                <a:path extrusionOk="0" h="12951" w="14995">
                  <a:moveTo>
                    <a:pt x="5599" y="1314"/>
                  </a:moveTo>
                  <a:cubicBezTo>
                    <a:pt x="5249" y="1968"/>
                    <a:pt x="4961" y="2628"/>
                    <a:pt x="4748" y="3282"/>
                  </a:cubicBezTo>
                  <a:lnTo>
                    <a:pt x="3024" y="3282"/>
                  </a:lnTo>
                  <a:cubicBezTo>
                    <a:pt x="3442" y="2697"/>
                    <a:pt x="3973" y="2195"/>
                    <a:pt x="4581" y="1816"/>
                  </a:cubicBezTo>
                  <a:cubicBezTo>
                    <a:pt x="4908" y="1611"/>
                    <a:pt x="5242" y="1443"/>
                    <a:pt x="5599" y="1314"/>
                  </a:cubicBezTo>
                  <a:close/>
                  <a:moveTo>
                    <a:pt x="7012" y="1003"/>
                  </a:moveTo>
                  <a:lnTo>
                    <a:pt x="7012" y="3282"/>
                  </a:lnTo>
                  <a:lnTo>
                    <a:pt x="5781" y="3282"/>
                  </a:lnTo>
                  <a:cubicBezTo>
                    <a:pt x="6062" y="2522"/>
                    <a:pt x="6434" y="1762"/>
                    <a:pt x="6905" y="1011"/>
                  </a:cubicBezTo>
                  <a:cubicBezTo>
                    <a:pt x="6936" y="1003"/>
                    <a:pt x="6974" y="1003"/>
                    <a:pt x="7012" y="1003"/>
                  </a:cubicBezTo>
                  <a:close/>
                  <a:moveTo>
                    <a:pt x="7984" y="1003"/>
                  </a:moveTo>
                  <a:cubicBezTo>
                    <a:pt x="8022" y="1003"/>
                    <a:pt x="8060" y="1003"/>
                    <a:pt x="8090" y="1011"/>
                  </a:cubicBezTo>
                  <a:cubicBezTo>
                    <a:pt x="8561" y="1762"/>
                    <a:pt x="8933" y="2522"/>
                    <a:pt x="9214" y="3282"/>
                  </a:cubicBezTo>
                  <a:lnTo>
                    <a:pt x="7984" y="3282"/>
                  </a:lnTo>
                  <a:lnTo>
                    <a:pt x="7984" y="1003"/>
                  </a:lnTo>
                  <a:close/>
                  <a:moveTo>
                    <a:pt x="9397" y="1314"/>
                  </a:moveTo>
                  <a:lnTo>
                    <a:pt x="9397" y="1314"/>
                  </a:lnTo>
                  <a:cubicBezTo>
                    <a:pt x="9746" y="1443"/>
                    <a:pt x="10088" y="1611"/>
                    <a:pt x="10414" y="1816"/>
                  </a:cubicBezTo>
                  <a:cubicBezTo>
                    <a:pt x="11022" y="2195"/>
                    <a:pt x="11554" y="2697"/>
                    <a:pt x="11971" y="3282"/>
                  </a:cubicBezTo>
                  <a:lnTo>
                    <a:pt x="10247" y="3282"/>
                  </a:lnTo>
                  <a:cubicBezTo>
                    <a:pt x="10027" y="2628"/>
                    <a:pt x="9746" y="1968"/>
                    <a:pt x="9397" y="1314"/>
                  </a:cubicBezTo>
                  <a:close/>
                  <a:moveTo>
                    <a:pt x="5014" y="5408"/>
                  </a:moveTo>
                  <a:lnTo>
                    <a:pt x="5014" y="7535"/>
                  </a:lnTo>
                  <a:lnTo>
                    <a:pt x="4551" y="7535"/>
                  </a:lnTo>
                  <a:lnTo>
                    <a:pt x="3708" y="6487"/>
                  </a:lnTo>
                  <a:lnTo>
                    <a:pt x="3708" y="7535"/>
                  </a:lnTo>
                  <a:lnTo>
                    <a:pt x="3123" y="7535"/>
                  </a:lnTo>
                  <a:lnTo>
                    <a:pt x="3123" y="5408"/>
                  </a:lnTo>
                  <a:lnTo>
                    <a:pt x="3578" y="5408"/>
                  </a:lnTo>
                  <a:lnTo>
                    <a:pt x="4429" y="6487"/>
                  </a:lnTo>
                  <a:lnTo>
                    <a:pt x="4429" y="5408"/>
                  </a:lnTo>
                  <a:close/>
                  <a:moveTo>
                    <a:pt x="6875" y="5408"/>
                  </a:moveTo>
                  <a:lnTo>
                    <a:pt x="6875" y="5917"/>
                  </a:lnTo>
                  <a:lnTo>
                    <a:pt x="5963" y="5917"/>
                  </a:lnTo>
                  <a:lnTo>
                    <a:pt x="5963" y="6213"/>
                  </a:lnTo>
                  <a:lnTo>
                    <a:pt x="6738" y="6213"/>
                  </a:lnTo>
                  <a:lnTo>
                    <a:pt x="6738" y="6692"/>
                  </a:lnTo>
                  <a:lnTo>
                    <a:pt x="5963" y="6692"/>
                  </a:lnTo>
                  <a:lnTo>
                    <a:pt x="5963" y="7026"/>
                  </a:lnTo>
                  <a:lnTo>
                    <a:pt x="6898" y="7026"/>
                  </a:lnTo>
                  <a:lnTo>
                    <a:pt x="6898" y="7535"/>
                  </a:lnTo>
                  <a:lnTo>
                    <a:pt x="5379" y="7535"/>
                  </a:lnTo>
                  <a:lnTo>
                    <a:pt x="5379" y="5408"/>
                  </a:lnTo>
                  <a:close/>
                  <a:moveTo>
                    <a:pt x="10194" y="5408"/>
                  </a:moveTo>
                  <a:lnTo>
                    <a:pt x="9366" y="7535"/>
                  </a:lnTo>
                  <a:lnTo>
                    <a:pt x="8880" y="7535"/>
                  </a:lnTo>
                  <a:lnTo>
                    <a:pt x="8576" y="6775"/>
                  </a:lnTo>
                  <a:lnTo>
                    <a:pt x="8272" y="7535"/>
                  </a:lnTo>
                  <a:lnTo>
                    <a:pt x="7786" y="7535"/>
                  </a:lnTo>
                  <a:lnTo>
                    <a:pt x="6958" y="5408"/>
                  </a:lnTo>
                  <a:lnTo>
                    <a:pt x="7589" y="5408"/>
                  </a:lnTo>
                  <a:lnTo>
                    <a:pt x="8052" y="6867"/>
                  </a:lnTo>
                  <a:lnTo>
                    <a:pt x="8196" y="6418"/>
                  </a:lnTo>
                  <a:lnTo>
                    <a:pt x="7855" y="5408"/>
                  </a:lnTo>
                  <a:lnTo>
                    <a:pt x="8386" y="5408"/>
                  </a:lnTo>
                  <a:lnTo>
                    <a:pt x="8576" y="6061"/>
                  </a:lnTo>
                  <a:lnTo>
                    <a:pt x="8766" y="5408"/>
                  </a:lnTo>
                  <a:lnTo>
                    <a:pt x="9298" y="5408"/>
                  </a:lnTo>
                  <a:lnTo>
                    <a:pt x="8948" y="6418"/>
                  </a:lnTo>
                  <a:lnTo>
                    <a:pt x="9100" y="6867"/>
                  </a:lnTo>
                  <a:lnTo>
                    <a:pt x="9564" y="5408"/>
                  </a:lnTo>
                  <a:close/>
                  <a:moveTo>
                    <a:pt x="11022" y="5385"/>
                  </a:moveTo>
                  <a:cubicBezTo>
                    <a:pt x="11333" y="5385"/>
                    <a:pt x="11630" y="5522"/>
                    <a:pt x="11819" y="5621"/>
                  </a:cubicBezTo>
                  <a:lnTo>
                    <a:pt x="11569" y="6099"/>
                  </a:lnTo>
                  <a:cubicBezTo>
                    <a:pt x="11569" y="6099"/>
                    <a:pt x="11257" y="5910"/>
                    <a:pt x="11007" y="5910"/>
                  </a:cubicBezTo>
                  <a:cubicBezTo>
                    <a:pt x="10900" y="5910"/>
                    <a:pt x="10832" y="5932"/>
                    <a:pt x="10832" y="6008"/>
                  </a:cubicBezTo>
                  <a:cubicBezTo>
                    <a:pt x="10832" y="6122"/>
                    <a:pt x="10984" y="6145"/>
                    <a:pt x="11227" y="6221"/>
                  </a:cubicBezTo>
                  <a:cubicBezTo>
                    <a:pt x="11622" y="6350"/>
                    <a:pt x="11873" y="6487"/>
                    <a:pt x="11873" y="6882"/>
                  </a:cubicBezTo>
                  <a:cubicBezTo>
                    <a:pt x="11873" y="7398"/>
                    <a:pt x="11455" y="7558"/>
                    <a:pt x="11060" y="7558"/>
                  </a:cubicBezTo>
                  <a:cubicBezTo>
                    <a:pt x="10756" y="7558"/>
                    <a:pt x="10391" y="7459"/>
                    <a:pt x="10133" y="7315"/>
                  </a:cubicBezTo>
                  <a:lnTo>
                    <a:pt x="10384" y="6798"/>
                  </a:lnTo>
                  <a:cubicBezTo>
                    <a:pt x="10384" y="6798"/>
                    <a:pt x="10741" y="7034"/>
                    <a:pt x="11067" y="7034"/>
                  </a:cubicBezTo>
                  <a:cubicBezTo>
                    <a:pt x="11197" y="7034"/>
                    <a:pt x="11242" y="6996"/>
                    <a:pt x="11242" y="6943"/>
                  </a:cubicBezTo>
                  <a:cubicBezTo>
                    <a:pt x="11242" y="6813"/>
                    <a:pt x="11022" y="6791"/>
                    <a:pt x="10771" y="6700"/>
                  </a:cubicBezTo>
                  <a:cubicBezTo>
                    <a:pt x="10391" y="6578"/>
                    <a:pt x="10232" y="6418"/>
                    <a:pt x="10232" y="6107"/>
                  </a:cubicBezTo>
                  <a:cubicBezTo>
                    <a:pt x="10232" y="5636"/>
                    <a:pt x="10604" y="5385"/>
                    <a:pt x="11022" y="5385"/>
                  </a:cubicBezTo>
                  <a:close/>
                  <a:moveTo>
                    <a:pt x="4748" y="9669"/>
                  </a:moveTo>
                  <a:cubicBezTo>
                    <a:pt x="4961" y="10323"/>
                    <a:pt x="5249" y="10983"/>
                    <a:pt x="5599" y="11637"/>
                  </a:cubicBezTo>
                  <a:cubicBezTo>
                    <a:pt x="5242" y="11500"/>
                    <a:pt x="4908" y="11340"/>
                    <a:pt x="4581" y="11135"/>
                  </a:cubicBezTo>
                  <a:cubicBezTo>
                    <a:pt x="3973" y="10755"/>
                    <a:pt x="3442" y="10254"/>
                    <a:pt x="3024" y="9669"/>
                  </a:cubicBezTo>
                  <a:close/>
                  <a:moveTo>
                    <a:pt x="11971" y="9669"/>
                  </a:moveTo>
                  <a:cubicBezTo>
                    <a:pt x="11554" y="10254"/>
                    <a:pt x="11022" y="10755"/>
                    <a:pt x="10414" y="11135"/>
                  </a:cubicBezTo>
                  <a:cubicBezTo>
                    <a:pt x="10088" y="11340"/>
                    <a:pt x="9746" y="11500"/>
                    <a:pt x="9397" y="11637"/>
                  </a:cubicBezTo>
                  <a:cubicBezTo>
                    <a:pt x="9746" y="10983"/>
                    <a:pt x="10027" y="10323"/>
                    <a:pt x="10247" y="9669"/>
                  </a:cubicBezTo>
                  <a:close/>
                  <a:moveTo>
                    <a:pt x="7012" y="9669"/>
                  </a:moveTo>
                  <a:lnTo>
                    <a:pt x="7012" y="11948"/>
                  </a:lnTo>
                  <a:cubicBezTo>
                    <a:pt x="6974" y="11948"/>
                    <a:pt x="6936" y="11940"/>
                    <a:pt x="6905" y="11940"/>
                  </a:cubicBezTo>
                  <a:cubicBezTo>
                    <a:pt x="6434" y="11181"/>
                    <a:pt x="6062" y="10421"/>
                    <a:pt x="5781" y="9669"/>
                  </a:cubicBezTo>
                  <a:close/>
                  <a:moveTo>
                    <a:pt x="9214" y="9669"/>
                  </a:moveTo>
                  <a:cubicBezTo>
                    <a:pt x="8933" y="10421"/>
                    <a:pt x="8561" y="11181"/>
                    <a:pt x="8090" y="11940"/>
                  </a:cubicBezTo>
                  <a:cubicBezTo>
                    <a:pt x="8060" y="11940"/>
                    <a:pt x="8022" y="11948"/>
                    <a:pt x="7984" y="11948"/>
                  </a:cubicBezTo>
                  <a:lnTo>
                    <a:pt x="7984" y="9669"/>
                  </a:lnTo>
                  <a:close/>
                  <a:moveTo>
                    <a:pt x="7498" y="0"/>
                  </a:moveTo>
                  <a:cubicBezTo>
                    <a:pt x="6275" y="0"/>
                    <a:pt x="5090" y="342"/>
                    <a:pt x="4065" y="980"/>
                  </a:cubicBezTo>
                  <a:cubicBezTo>
                    <a:pt x="3153" y="1557"/>
                    <a:pt x="2394" y="2347"/>
                    <a:pt x="1862" y="3282"/>
                  </a:cubicBezTo>
                  <a:lnTo>
                    <a:pt x="1" y="3282"/>
                  </a:lnTo>
                  <a:lnTo>
                    <a:pt x="1" y="9669"/>
                  </a:lnTo>
                  <a:lnTo>
                    <a:pt x="1862" y="9669"/>
                  </a:lnTo>
                  <a:cubicBezTo>
                    <a:pt x="2394" y="10604"/>
                    <a:pt x="3153" y="11393"/>
                    <a:pt x="4065" y="11963"/>
                  </a:cubicBezTo>
                  <a:cubicBezTo>
                    <a:pt x="5090" y="12609"/>
                    <a:pt x="6275" y="12951"/>
                    <a:pt x="7498" y="12951"/>
                  </a:cubicBezTo>
                  <a:cubicBezTo>
                    <a:pt x="8713" y="12951"/>
                    <a:pt x="9905" y="12609"/>
                    <a:pt x="10931" y="11963"/>
                  </a:cubicBezTo>
                  <a:cubicBezTo>
                    <a:pt x="11842" y="11393"/>
                    <a:pt x="12594" y="10604"/>
                    <a:pt x="13126" y="9669"/>
                  </a:cubicBezTo>
                  <a:lnTo>
                    <a:pt x="14994" y="9669"/>
                  </a:lnTo>
                  <a:lnTo>
                    <a:pt x="14994" y="3282"/>
                  </a:lnTo>
                  <a:lnTo>
                    <a:pt x="13126" y="3282"/>
                  </a:lnTo>
                  <a:cubicBezTo>
                    <a:pt x="12594" y="2347"/>
                    <a:pt x="11842" y="1557"/>
                    <a:pt x="10931" y="980"/>
                  </a:cubicBezTo>
                  <a:cubicBezTo>
                    <a:pt x="9905" y="342"/>
                    <a:pt x="8713" y="0"/>
                    <a:pt x="749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8"/>
          <p:cNvSpPr txBox="1"/>
          <p:nvPr>
            <p:ph type="ctrTitle"/>
          </p:nvPr>
        </p:nvSpPr>
        <p:spPr>
          <a:xfrm>
            <a:off x="1597800" y="441187"/>
            <a:ext cx="5933400" cy="42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100">
                <a:highlight>
                  <a:srgbClr val="FFFFFF"/>
                </a:highlight>
              </a:rPr>
              <a:t>Motivation and Importance</a:t>
            </a:r>
            <a:endParaRPr sz="3100"/>
          </a:p>
        </p:txBody>
      </p:sp>
      <p:sp>
        <p:nvSpPr>
          <p:cNvPr id="120" name="Google Shape;120;p28"/>
          <p:cNvSpPr txBox="1"/>
          <p:nvPr>
            <p:ph idx="1" type="subTitle"/>
          </p:nvPr>
        </p:nvSpPr>
        <p:spPr>
          <a:xfrm>
            <a:off x="721200" y="1099500"/>
            <a:ext cx="7686600" cy="3066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300"/>
              <a:t>News recommendation systems are an important technology that helps users </a:t>
            </a:r>
            <a:r>
              <a:rPr lang="en" sz="1300"/>
              <a:t>find</a:t>
            </a:r>
            <a:r>
              <a:rPr lang="en" sz="1300"/>
              <a:t> news content that </a:t>
            </a:r>
            <a:r>
              <a:rPr lang="en" sz="1300"/>
              <a:t>they are interested in and reduce information overload. But there are challenges and biases associated with news recommendation algorithms that have motivated us to explore: </a:t>
            </a:r>
            <a:endParaRPr sz="1300"/>
          </a:p>
          <a:p>
            <a:pPr indent="0" lvl="0" marL="0" rtl="0" algn="l">
              <a:spcBef>
                <a:spcPts val="0"/>
              </a:spcBef>
              <a:spcAft>
                <a:spcPts val="0"/>
              </a:spcAft>
              <a:buNone/>
            </a:pPr>
            <a:r>
              <a:t/>
            </a:r>
            <a:endParaRPr sz="1300"/>
          </a:p>
          <a:p>
            <a:pPr indent="457200" lvl="0" marL="0" rtl="0" algn="l">
              <a:spcBef>
                <a:spcPts val="0"/>
              </a:spcBef>
              <a:spcAft>
                <a:spcPts val="0"/>
              </a:spcAft>
              <a:buNone/>
            </a:pPr>
            <a:r>
              <a:rPr lang="en" sz="1300"/>
              <a:t>Diversity</a:t>
            </a:r>
            <a:endParaRPr sz="1300"/>
          </a:p>
          <a:p>
            <a:pPr indent="457200" lvl="0" marL="0" rtl="0" algn="l">
              <a:spcBef>
                <a:spcPts val="0"/>
              </a:spcBef>
              <a:spcAft>
                <a:spcPts val="0"/>
              </a:spcAft>
              <a:buNone/>
            </a:pPr>
            <a:r>
              <a:t/>
            </a:r>
            <a:endParaRPr sz="1300"/>
          </a:p>
          <a:p>
            <a:pPr indent="457200" lvl="0" marL="0" rtl="0" algn="l">
              <a:spcBef>
                <a:spcPts val="0"/>
              </a:spcBef>
              <a:spcAft>
                <a:spcPts val="0"/>
              </a:spcAft>
              <a:buNone/>
            </a:pPr>
            <a:r>
              <a:rPr lang="en" sz="1300"/>
              <a:t>Fairness</a:t>
            </a:r>
            <a:endParaRPr sz="1300"/>
          </a:p>
          <a:p>
            <a:pPr indent="0" lvl="0" marL="457200" rtl="0" algn="l">
              <a:spcBef>
                <a:spcPts val="0"/>
              </a:spcBef>
              <a:spcAft>
                <a:spcPts val="0"/>
              </a:spcAft>
              <a:buNone/>
            </a:pPr>
            <a:r>
              <a:t/>
            </a:r>
            <a:endParaRPr sz="1300"/>
          </a:p>
          <a:p>
            <a:pPr indent="457200" lvl="0" marL="0" rtl="0" algn="l">
              <a:spcBef>
                <a:spcPts val="0"/>
              </a:spcBef>
              <a:spcAft>
                <a:spcPts val="0"/>
              </a:spcAft>
              <a:buNone/>
            </a:pPr>
            <a:r>
              <a:rPr lang="en" sz="1300"/>
              <a:t>Impact on the user’s behavior</a:t>
            </a:r>
            <a:endParaRPr sz="1300"/>
          </a:p>
          <a:p>
            <a:pPr indent="0" lvl="0" marL="457200" rtl="0" algn="l">
              <a:spcBef>
                <a:spcPts val="0"/>
              </a:spcBef>
              <a:spcAft>
                <a:spcPts val="0"/>
              </a:spcAft>
              <a:buNone/>
            </a:pPr>
            <a:r>
              <a:t/>
            </a:r>
            <a:endParaRPr sz="1300"/>
          </a:p>
          <a:p>
            <a:pPr indent="0" lvl="0" marL="0" rtl="0" algn="l">
              <a:spcBef>
                <a:spcPts val="0"/>
              </a:spcBef>
              <a:spcAft>
                <a:spcPts val="0"/>
              </a:spcAft>
              <a:buNone/>
            </a:pPr>
            <a:r>
              <a:rPr lang="en" sz="1300"/>
              <a:t>Researching these biases in news recommendation algorithms is important to ensure that these systems provide users with high-quality and diverse news experiences.</a:t>
            </a:r>
            <a:endParaRPr sz="1300"/>
          </a:p>
        </p:txBody>
      </p:sp>
      <p:grpSp>
        <p:nvGrpSpPr>
          <p:cNvPr id="121" name="Google Shape;121;p28"/>
          <p:cNvGrpSpPr/>
          <p:nvPr/>
        </p:nvGrpSpPr>
        <p:grpSpPr>
          <a:xfrm>
            <a:off x="823592" y="2151776"/>
            <a:ext cx="346035" cy="369900"/>
            <a:chOff x="6219391" y="3915357"/>
            <a:chExt cx="356627" cy="471751"/>
          </a:xfrm>
        </p:grpSpPr>
        <p:sp>
          <p:nvSpPr>
            <p:cNvPr id="122" name="Google Shape;122;p28"/>
            <p:cNvSpPr/>
            <p:nvPr/>
          </p:nvSpPr>
          <p:spPr>
            <a:xfrm>
              <a:off x="6219391" y="4052856"/>
              <a:ext cx="306594" cy="334252"/>
            </a:xfrm>
            <a:custGeom>
              <a:rect b="b" l="l" r="r" t="t"/>
              <a:pathLst>
                <a:path extrusionOk="0" h="10502" w="9633">
                  <a:moveTo>
                    <a:pt x="8394" y="4179"/>
                  </a:moveTo>
                  <a:cubicBezTo>
                    <a:pt x="8906" y="4251"/>
                    <a:pt x="9299" y="4703"/>
                    <a:pt x="9299" y="5239"/>
                  </a:cubicBezTo>
                  <a:cubicBezTo>
                    <a:pt x="9299" y="5775"/>
                    <a:pt x="8906" y="6215"/>
                    <a:pt x="8394" y="6299"/>
                  </a:cubicBezTo>
                  <a:lnTo>
                    <a:pt x="8394" y="4179"/>
                  </a:lnTo>
                  <a:close/>
                  <a:moveTo>
                    <a:pt x="1203" y="4013"/>
                  </a:moveTo>
                  <a:lnTo>
                    <a:pt x="1203" y="6489"/>
                  </a:lnTo>
                  <a:lnTo>
                    <a:pt x="846" y="6489"/>
                  </a:lnTo>
                  <a:cubicBezTo>
                    <a:pt x="548" y="6489"/>
                    <a:pt x="310" y="6251"/>
                    <a:pt x="310" y="5953"/>
                  </a:cubicBezTo>
                  <a:lnTo>
                    <a:pt x="310" y="4549"/>
                  </a:lnTo>
                  <a:cubicBezTo>
                    <a:pt x="310" y="4251"/>
                    <a:pt x="548" y="4013"/>
                    <a:pt x="846" y="4013"/>
                  </a:cubicBezTo>
                  <a:close/>
                  <a:moveTo>
                    <a:pt x="2596" y="4001"/>
                  </a:moveTo>
                  <a:lnTo>
                    <a:pt x="2596" y="6489"/>
                  </a:lnTo>
                  <a:lnTo>
                    <a:pt x="1525" y="6489"/>
                  </a:lnTo>
                  <a:lnTo>
                    <a:pt x="1525" y="4001"/>
                  </a:lnTo>
                  <a:close/>
                  <a:moveTo>
                    <a:pt x="2799" y="7692"/>
                  </a:moveTo>
                  <a:lnTo>
                    <a:pt x="2799" y="8418"/>
                  </a:lnTo>
                  <a:lnTo>
                    <a:pt x="2477" y="8418"/>
                  </a:lnTo>
                  <a:lnTo>
                    <a:pt x="2679" y="7692"/>
                  </a:lnTo>
                  <a:close/>
                  <a:moveTo>
                    <a:pt x="2560" y="6811"/>
                  </a:moveTo>
                  <a:lnTo>
                    <a:pt x="1941" y="9121"/>
                  </a:lnTo>
                  <a:lnTo>
                    <a:pt x="1525" y="9121"/>
                  </a:lnTo>
                  <a:lnTo>
                    <a:pt x="1525" y="6811"/>
                  </a:lnTo>
                  <a:close/>
                  <a:moveTo>
                    <a:pt x="8061" y="310"/>
                  </a:moveTo>
                  <a:lnTo>
                    <a:pt x="8061" y="10180"/>
                  </a:lnTo>
                  <a:lnTo>
                    <a:pt x="7335" y="10180"/>
                  </a:lnTo>
                  <a:lnTo>
                    <a:pt x="7335" y="3227"/>
                  </a:lnTo>
                  <a:cubicBezTo>
                    <a:pt x="7335" y="3132"/>
                    <a:pt x="7251" y="3060"/>
                    <a:pt x="7168" y="3060"/>
                  </a:cubicBezTo>
                  <a:cubicBezTo>
                    <a:pt x="7085" y="3060"/>
                    <a:pt x="7001" y="3132"/>
                    <a:pt x="7001" y="3227"/>
                  </a:cubicBezTo>
                  <a:lnTo>
                    <a:pt x="7001" y="9085"/>
                  </a:lnTo>
                  <a:cubicBezTo>
                    <a:pt x="6799" y="8811"/>
                    <a:pt x="6489" y="8406"/>
                    <a:pt x="6085" y="8013"/>
                  </a:cubicBezTo>
                  <a:cubicBezTo>
                    <a:pt x="5620" y="7573"/>
                    <a:pt x="5144" y="7216"/>
                    <a:pt x="4656" y="6966"/>
                  </a:cubicBezTo>
                  <a:cubicBezTo>
                    <a:pt x="4084" y="6668"/>
                    <a:pt x="3525" y="6501"/>
                    <a:pt x="2941" y="6489"/>
                  </a:cubicBezTo>
                  <a:lnTo>
                    <a:pt x="2941" y="4001"/>
                  </a:lnTo>
                  <a:cubicBezTo>
                    <a:pt x="3525" y="3965"/>
                    <a:pt x="4084" y="3810"/>
                    <a:pt x="4656" y="3525"/>
                  </a:cubicBezTo>
                  <a:cubicBezTo>
                    <a:pt x="5144" y="3275"/>
                    <a:pt x="5620" y="2917"/>
                    <a:pt x="6085" y="2465"/>
                  </a:cubicBezTo>
                  <a:cubicBezTo>
                    <a:pt x="6489" y="2084"/>
                    <a:pt x="6799" y="1679"/>
                    <a:pt x="7001" y="1393"/>
                  </a:cubicBezTo>
                  <a:lnTo>
                    <a:pt x="7001" y="2441"/>
                  </a:lnTo>
                  <a:cubicBezTo>
                    <a:pt x="7001" y="2524"/>
                    <a:pt x="7085" y="2596"/>
                    <a:pt x="7168" y="2596"/>
                  </a:cubicBezTo>
                  <a:cubicBezTo>
                    <a:pt x="7251" y="2596"/>
                    <a:pt x="7335" y="2524"/>
                    <a:pt x="7335" y="2441"/>
                  </a:cubicBezTo>
                  <a:lnTo>
                    <a:pt x="7335" y="310"/>
                  </a:lnTo>
                  <a:close/>
                  <a:moveTo>
                    <a:pt x="7168" y="0"/>
                  </a:moveTo>
                  <a:cubicBezTo>
                    <a:pt x="7085" y="0"/>
                    <a:pt x="7001" y="72"/>
                    <a:pt x="7001" y="167"/>
                  </a:cubicBezTo>
                  <a:lnTo>
                    <a:pt x="7001" y="822"/>
                  </a:lnTo>
                  <a:cubicBezTo>
                    <a:pt x="6906" y="977"/>
                    <a:pt x="6489" y="1620"/>
                    <a:pt x="5847" y="2251"/>
                  </a:cubicBezTo>
                  <a:cubicBezTo>
                    <a:pt x="5156" y="2905"/>
                    <a:pt x="4084" y="3691"/>
                    <a:pt x="2775" y="3691"/>
                  </a:cubicBezTo>
                  <a:lnTo>
                    <a:pt x="858" y="3691"/>
                  </a:lnTo>
                  <a:cubicBezTo>
                    <a:pt x="382" y="3691"/>
                    <a:pt x="1" y="4072"/>
                    <a:pt x="1" y="4549"/>
                  </a:cubicBezTo>
                  <a:lnTo>
                    <a:pt x="1" y="5953"/>
                  </a:lnTo>
                  <a:cubicBezTo>
                    <a:pt x="1" y="6430"/>
                    <a:pt x="382" y="6811"/>
                    <a:pt x="858" y="6811"/>
                  </a:cubicBezTo>
                  <a:lnTo>
                    <a:pt x="1215" y="6811"/>
                  </a:lnTo>
                  <a:lnTo>
                    <a:pt x="1215" y="9287"/>
                  </a:lnTo>
                  <a:cubicBezTo>
                    <a:pt x="1215" y="9371"/>
                    <a:pt x="1286" y="9454"/>
                    <a:pt x="1382" y="9454"/>
                  </a:cubicBezTo>
                  <a:lnTo>
                    <a:pt x="2084" y="9454"/>
                  </a:lnTo>
                  <a:cubicBezTo>
                    <a:pt x="2156" y="9454"/>
                    <a:pt x="2215" y="9406"/>
                    <a:pt x="2239" y="9335"/>
                  </a:cubicBezTo>
                  <a:lnTo>
                    <a:pt x="2394" y="8751"/>
                  </a:lnTo>
                  <a:lnTo>
                    <a:pt x="2953" y="8751"/>
                  </a:lnTo>
                  <a:cubicBezTo>
                    <a:pt x="3049" y="8751"/>
                    <a:pt x="3120" y="8680"/>
                    <a:pt x="3120" y="8585"/>
                  </a:cubicBezTo>
                  <a:lnTo>
                    <a:pt x="3120" y="7525"/>
                  </a:lnTo>
                  <a:cubicBezTo>
                    <a:pt x="3120" y="7442"/>
                    <a:pt x="3049" y="7370"/>
                    <a:pt x="2953" y="7370"/>
                  </a:cubicBezTo>
                  <a:lnTo>
                    <a:pt x="2763" y="7370"/>
                  </a:lnTo>
                  <a:lnTo>
                    <a:pt x="2918" y="6811"/>
                  </a:lnTo>
                  <a:cubicBezTo>
                    <a:pt x="4168" y="6858"/>
                    <a:pt x="5192" y="7620"/>
                    <a:pt x="5858" y="8263"/>
                  </a:cubicBezTo>
                  <a:cubicBezTo>
                    <a:pt x="6513" y="8882"/>
                    <a:pt x="6930" y="9525"/>
                    <a:pt x="7025" y="9692"/>
                  </a:cubicBezTo>
                  <a:lnTo>
                    <a:pt x="7025" y="10347"/>
                  </a:lnTo>
                  <a:cubicBezTo>
                    <a:pt x="7025" y="10430"/>
                    <a:pt x="7097" y="10502"/>
                    <a:pt x="7180" y="10502"/>
                  </a:cubicBezTo>
                  <a:lnTo>
                    <a:pt x="8240" y="10502"/>
                  </a:lnTo>
                  <a:cubicBezTo>
                    <a:pt x="8335" y="10502"/>
                    <a:pt x="8406" y="10430"/>
                    <a:pt x="8406" y="10347"/>
                  </a:cubicBezTo>
                  <a:lnTo>
                    <a:pt x="8406" y="6632"/>
                  </a:lnTo>
                  <a:cubicBezTo>
                    <a:pt x="9109" y="6549"/>
                    <a:pt x="9633" y="5965"/>
                    <a:pt x="9633" y="5251"/>
                  </a:cubicBezTo>
                  <a:cubicBezTo>
                    <a:pt x="9621" y="4537"/>
                    <a:pt x="9085" y="3941"/>
                    <a:pt x="8394" y="3870"/>
                  </a:cubicBezTo>
                  <a:lnTo>
                    <a:pt x="8394" y="167"/>
                  </a:lnTo>
                  <a:cubicBezTo>
                    <a:pt x="8394" y="72"/>
                    <a:pt x="8311" y="0"/>
                    <a:pt x="8228" y="0"/>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123" name="Google Shape;123;p28"/>
            <p:cNvSpPr/>
            <p:nvPr/>
          </p:nvSpPr>
          <p:spPr>
            <a:xfrm>
              <a:off x="6549060" y="3978567"/>
              <a:ext cx="26958" cy="10630"/>
            </a:xfrm>
            <a:custGeom>
              <a:rect b="b" l="l" r="r" t="t"/>
              <a:pathLst>
                <a:path extrusionOk="0" h="334" w="847">
                  <a:moveTo>
                    <a:pt x="156" y="0"/>
                  </a:moveTo>
                  <a:cubicBezTo>
                    <a:pt x="72" y="0"/>
                    <a:pt x="1" y="84"/>
                    <a:pt x="1" y="167"/>
                  </a:cubicBezTo>
                  <a:cubicBezTo>
                    <a:pt x="1" y="262"/>
                    <a:pt x="72" y="334"/>
                    <a:pt x="156" y="334"/>
                  </a:cubicBezTo>
                  <a:lnTo>
                    <a:pt x="680" y="334"/>
                  </a:lnTo>
                  <a:cubicBezTo>
                    <a:pt x="763" y="334"/>
                    <a:pt x="846" y="262"/>
                    <a:pt x="846" y="167"/>
                  </a:cubicBezTo>
                  <a:cubicBezTo>
                    <a:pt x="846" y="84"/>
                    <a:pt x="775" y="0"/>
                    <a:pt x="680" y="0"/>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124" name="Google Shape;124;p28"/>
            <p:cNvSpPr/>
            <p:nvPr/>
          </p:nvSpPr>
          <p:spPr>
            <a:xfrm>
              <a:off x="6525572" y="3915357"/>
              <a:ext cx="24666" cy="22311"/>
            </a:xfrm>
            <a:custGeom>
              <a:rect b="b" l="l" r="r" t="t"/>
              <a:pathLst>
                <a:path extrusionOk="0" h="701" w="775">
                  <a:moveTo>
                    <a:pt x="605" y="1"/>
                  </a:moveTo>
                  <a:cubicBezTo>
                    <a:pt x="563" y="1"/>
                    <a:pt x="519" y="16"/>
                    <a:pt x="477" y="46"/>
                  </a:cubicBezTo>
                  <a:lnTo>
                    <a:pt x="108" y="415"/>
                  </a:lnTo>
                  <a:cubicBezTo>
                    <a:pt x="1" y="522"/>
                    <a:pt x="84" y="700"/>
                    <a:pt x="227" y="700"/>
                  </a:cubicBezTo>
                  <a:cubicBezTo>
                    <a:pt x="275" y="700"/>
                    <a:pt x="322" y="677"/>
                    <a:pt x="346" y="653"/>
                  </a:cubicBezTo>
                  <a:lnTo>
                    <a:pt x="715" y="284"/>
                  </a:lnTo>
                  <a:cubicBezTo>
                    <a:pt x="775" y="224"/>
                    <a:pt x="775" y="117"/>
                    <a:pt x="715" y="46"/>
                  </a:cubicBezTo>
                  <a:cubicBezTo>
                    <a:pt x="685" y="16"/>
                    <a:pt x="647" y="1"/>
                    <a:pt x="605" y="1"/>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125" name="Google Shape;125;p28"/>
            <p:cNvSpPr/>
            <p:nvPr/>
          </p:nvSpPr>
          <p:spPr>
            <a:xfrm>
              <a:off x="6527099" y="4030191"/>
              <a:ext cx="23139" cy="22661"/>
            </a:xfrm>
            <a:custGeom>
              <a:rect b="b" l="l" r="r" t="t"/>
              <a:pathLst>
                <a:path extrusionOk="0" h="712" w="727">
                  <a:moveTo>
                    <a:pt x="183" y="1"/>
                  </a:moveTo>
                  <a:cubicBezTo>
                    <a:pt x="140" y="1"/>
                    <a:pt x="96" y="15"/>
                    <a:pt x="60" y="45"/>
                  </a:cubicBezTo>
                  <a:cubicBezTo>
                    <a:pt x="0" y="105"/>
                    <a:pt x="0" y="212"/>
                    <a:pt x="60" y="283"/>
                  </a:cubicBezTo>
                  <a:lnTo>
                    <a:pt x="429" y="664"/>
                  </a:lnTo>
                  <a:cubicBezTo>
                    <a:pt x="466" y="696"/>
                    <a:pt x="505" y="711"/>
                    <a:pt x="543" y="711"/>
                  </a:cubicBezTo>
                  <a:cubicBezTo>
                    <a:pt x="590" y="711"/>
                    <a:pt x="634" y="687"/>
                    <a:pt x="667" y="641"/>
                  </a:cubicBezTo>
                  <a:cubicBezTo>
                    <a:pt x="727" y="569"/>
                    <a:pt x="727" y="486"/>
                    <a:pt x="667" y="426"/>
                  </a:cubicBezTo>
                  <a:lnTo>
                    <a:pt x="298" y="45"/>
                  </a:lnTo>
                  <a:cubicBezTo>
                    <a:pt x="268" y="15"/>
                    <a:pt x="227" y="1"/>
                    <a:pt x="183" y="1"/>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grpSp>
      <p:grpSp>
        <p:nvGrpSpPr>
          <p:cNvPr id="126" name="Google Shape;126;p28"/>
          <p:cNvGrpSpPr/>
          <p:nvPr/>
        </p:nvGrpSpPr>
        <p:grpSpPr>
          <a:xfrm>
            <a:off x="823592" y="2571751"/>
            <a:ext cx="346035" cy="369900"/>
            <a:chOff x="6219391" y="3915357"/>
            <a:chExt cx="356627" cy="471751"/>
          </a:xfrm>
        </p:grpSpPr>
        <p:sp>
          <p:nvSpPr>
            <p:cNvPr id="127" name="Google Shape;127;p28"/>
            <p:cNvSpPr/>
            <p:nvPr/>
          </p:nvSpPr>
          <p:spPr>
            <a:xfrm>
              <a:off x="6219391" y="4052856"/>
              <a:ext cx="306594" cy="334252"/>
            </a:xfrm>
            <a:custGeom>
              <a:rect b="b" l="l" r="r" t="t"/>
              <a:pathLst>
                <a:path extrusionOk="0" h="10502" w="9633">
                  <a:moveTo>
                    <a:pt x="8394" y="4179"/>
                  </a:moveTo>
                  <a:cubicBezTo>
                    <a:pt x="8906" y="4251"/>
                    <a:pt x="9299" y="4703"/>
                    <a:pt x="9299" y="5239"/>
                  </a:cubicBezTo>
                  <a:cubicBezTo>
                    <a:pt x="9299" y="5775"/>
                    <a:pt x="8906" y="6215"/>
                    <a:pt x="8394" y="6299"/>
                  </a:cubicBezTo>
                  <a:lnTo>
                    <a:pt x="8394" y="4179"/>
                  </a:lnTo>
                  <a:close/>
                  <a:moveTo>
                    <a:pt x="1203" y="4013"/>
                  </a:moveTo>
                  <a:lnTo>
                    <a:pt x="1203" y="6489"/>
                  </a:lnTo>
                  <a:lnTo>
                    <a:pt x="846" y="6489"/>
                  </a:lnTo>
                  <a:cubicBezTo>
                    <a:pt x="548" y="6489"/>
                    <a:pt x="310" y="6251"/>
                    <a:pt x="310" y="5953"/>
                  </a:cubicBezTo>
                  <a:lnTo>
                    <a:pt x="310" y="4549"/>
                  </a:lnTo>
                  <a:cubicBezTo>
                    <a:pt x="310" y="4251"/>
                    <a:pt x="548" y="4013"/>
                    <a:pt x="846" y="4013"/>
                  </a:cubicBezTo>
                  <a:close/>
                  <a:moveTo>
                    <a:pt x="2596" y="4001"/>
                  </a:moveTo>
                  <a:lnTo>
                    <a:pt x="2596" y="6489"/>
                  </a:lnTo>
                  <a:lnTo>
                    <a:pt x="1525" y="6489"/>
                  </a:lnTo>
                  <a:lnTo>
                    <a:pt x="1525" y="4001"/>
                  </a:lnTo>
                  <a:close/>
                  <a:moveTo>
                    <a:pt x="2799" y="7692"/>
                  </a:moveTo>
                  <a:lnTo>
                    <a:pt x="2799" y="8418"/>
                  </a:lnTo>
                  <a:lnTo>
                    <a:pt x="2477" y="8418"/>
                  </a:lnTo>
                  <a:lnTo>
                    <a:pt x="2679" y="7692"/>
                  </a:lnTo>
                  <a:close/>
                  <a:moveTo>
                    <a:pt x="2560" y="6811"/>
                  </a:moveTo>
                  <a:lnTo>
                    <a:pt x="1941" y="9121"/>
                  </a:lnTo>
                  <a:lnTo>
                    <a:pt x="1525" y="9121"/>
                  </a:lnTo>
                  <a:lnTo>
                    <a:pt x="1525" y="6811"/>
                  </a:lnTo>
                  <a:close/>
                  <a:moveTo>
                    <a:pt x="8061" y="310"/>
                  </a:moveTo>
                  <a:lnTo>
                    <a:pt x="8061" y="10180"/>
                  </a:lnTo>
                  <a:lnTo>
                    <a:pt x="7335" y="10180"/>
                  </a:lnTo>
                  <a:lnTo>
                    <a:pt x="7335" y="3227"/>
                  </a:lnTo>
                  <a:cubicBezTo>
                    <a:pt x="7335" y="3132"/>
                    <a:pt x="7251" y="3060"/>
                    <a:pt x="7168" y="3060"/>
                  </a:cubicBezTo>
                  <a:cubicBezTo>
                    <a:pt x="7085" y="3060"/>
                    <a:pt x="7001" y="3132"/>
                    <a:pt x="7001" y="3227"/>
                  </a:cubicBezTo>
                  <a:lnTo>
                    <a:pt x="7001" y="9085"/>
                  </a:lnTo>
                  <a:cubicBezTo>
                    <a:pt x="6799" y="8811"/>
                    <a:pt x="6489" y="8406"/>
                    <a:pt x="6085" y="8013"/>
                  </a:cubicBezTo>
                  <a:cubicBezTo>
                    <a:pt x="5620" y="7573"/>
                    <a:pt x="5144" y="7216"/>
                    <a:pt x="4656" y="6966"/>
                  </a:cubicBezTo>
                  <a:cubicBezTo>
                    <a:pt x="4084" y="6668"/>
                    <a:pt x="3525" y="6501"/>
                    <a:pt x="2941" y="6489"/>
                  </a:cubicBezTo>
                  <a:lnTo>
                    <a:pt x="2941" y="4001"/>
                  </a:lnTo>
                  <a:cubicBezTo>
                    <a:pt x="3525" y="3965"/>
                    <a:pt x="4084" y="3810"/>
                    <a:pt x="4656" y="3525"/>
                  </a:cubicBezTo>
                  <a:cubicBezTo>
                    <a:pt x="5144" y="3275"/>
                    <a:pt x="5620" y="2917"/>
                    <a:pt x="6085" y="2465"/>
                  </a:cubicBezTo>
                  <a:cubicBezTo>
                    <a:pt x="6489" y="2084"/>
                    <a:pt x="6799" y="1679"/>
                    <a:pt x="7001" y="1393"/>
                  </a:cubicBezTo>
                  <a:lnTo>
                    <a:pt x="7001" y="2441"/>
                  </a:lnTo>
                  <a:cubicBezTo>
                    <a:pt x="7001" y="2524"/>
                    <a:pt x="7085" y="2596"/>
                    <a:pt x="7168" y="2596"/>
                  </a:cubicBezTo>
                  <a:cubicBezTo>
                    <a:pt x="7251" y="2596"/>
                    <a:pt x="7335" y="2524"/>
                    <a:pt x="7335" y="2441"/>
                  </a:cubicBezTo>
                  <a:lnTo>
                    <a:pt x="7335" y="310"/>
                  </a:lnTo>
                  <a:close/>
                  <a:moveTo>
                    <a:pt x="7168" y="0"/>
                  </a:moveTo>
                  <a:cubicBezTo>
                    <a:pt x="7085" y="0"/>
                    <a:pt x="7001" y="72"/>
                    <a:pt x="7001" y="167"/>
                  </a:cubicBezTo>
                  <a:lnTo>
                    <a:pt x="7001" y="822"/>
                  </a:lnTo>
                  <a:cubicBezTo>
                    <a:pt x="6906" y="977"/>
                    <a:pt x="6489" y="1620"/>
                    <a:pt x="5847" y="2251"/>
                  </a:cubicBezTo>
                  <a:cubicBezTo>
                    <a:pt x="5156" y="2905"/>
                    <a:pt x="4084" y="3691"/>
                    <a:pt x="2775" y="3691"/>
                  </a:cubicBezTo>
                  <a:lnTo>
                    <a:pt x="858" y="3691"/>
                  </a:lnTo>
                  <a:cubicBezTo>
                    <a:pt x="382" y="3691"/>
                    <a:pt x="1" y="4072"/>
                    <a:pt x="1" y="4549"/>
                  </a:cubicBezTo>
                  <a:lnTo>
                    <a:pt x="1" y="5953"/>
                  </a:lnTo>
                  <a:cubicBezTo>
                    <a:pt x="1" y="6430"/>
                    <a:pt x="382" y="6811"/>
                    <a:pt x="858" y="6811"/>
                  </a:cubicBezTo>
                  <a:lnTo>
                    <a:pt x="1215" y="6811"/>
                  </a:lnTo>
                  <a:lnTo>
                    <a:pt x="1215" y="9287"/>
                  </a:lnTo>
                  <a:cubicBezTo>
                    <a:pt x="1215" y="9371"/>
                    <a:pt x="1286" y="9454"/>
                    <a:pt x="1382" y="9454"/>
                  </a:cubicBezTo>
                  <a:lnTo>
                    <a:pt x="2084" y="9454"/>
                  </a:lnTo>
                  <a:cubicBezTo>
                    <a:pt x="2156" y="9454"/>
                    <a:pt x="2215" y="9406"/>
                    <a:pt x="2239" y="9335"/>
                  </a:cubicBezTo>
                  <a:lnTo>
                    <a:pt x="2394" y="8751"/>
                  </a:lnTo>
                  <a:lnTo>
                    <a:pt x="2953" y="8751"/>
                  </a:lnTo>
                  <a:cubicBezTo>
                    <a:pt x="3049" y="8751"/>
                    <a:pt x="3120" y="8680"/>
                    <a:pt x="3120" y="8585"/>
                  </a:cubicBezTo>
                  <a:lnTo>
                    <a:pt x="3120" y="7525"/>
                  </a:lnTo>
                  <a:cubicBezTo>
                    <a:pt x="3120" y="7442"/>
                    <a:pt x="3049" y="7370"/>
                    <a:pt x="2953" y="7370"/>
                  </a:cubicBezTo>
                  <a:lnTo>
                    <a:pt x="2763" y="7370"/>
                  </a:lnTo>
                  <a:lnTo>
                    <a:pt x="2918" y="6811"/>
                  </a:lnTo>
                  <a:cubicBezTo>
                    <a:pt x="4168" y="6858"/>
                    <a:pt x="5192" y="7620"/>
                    <a:pt x="5858" y="8263"/>
                  </a:cubicBezTo>
                  <a:cubicBezTo>
                    <a:pt x="6513" y="8882"/>
                    <a:pt x="6930" y="9525"/>
                    <a:pt x="7025" y="9692"/>
                  </a:cubicBezTo>
                  <a:lnTo>
                    <a:pt x="7025" y="10347"/>
                  </a:lnTo>
                  <a:cubicBezTo>
                    <a:pt x="7025" y="10430"/>
                    <a:pt x="7097" y="10502"/>
                    <a:pt x="7180" y="10502"/>
                  </a:cubicBezTo>
                  <a:lnTo>
                    <a:pt x="8240" y="10502"/>
                  </a:lnTo>
                  <a:cubicBezTo>
                    <a:pt x="8335" y="10502"/>
                    <a:pt x="8406" y="10430"/>
                    <a:pt x="8406" y="10347"/>
                  </a:cubicBezTo>
                  <a:lnTo>
                    <a:pt x="8406" y="6632"/>
                  </a:lnTo>
                  <a:cubicBezTo>
                    <a:pt x="9109" y="6549"/>
                    <a:pt x="9633" y="5965"/>
                    <a:pt x="9633" y="5251"/>
                  </a:cubicBezTo>
                  <a:cubicBezTo>
                    <a:pt x="9621" y="4537"/>
                    <a:pt x="9085" y="3941"/>
                    <a:pt x="8394" y="3870"/>
                  </a:cubicBezTo>
                  <a:lnTo>
                    <a:pt x="8394" y="167"/>
                  </a:lnTo>
                  <a:cubicBezTo>
                    <a:pt x="8394" y="72"/>
                    <a:pt x="8311" y="0"/>
                    <a:pt x="8228" y="0"/>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128" name="Google Shape;128;p28"/>
            <p:cNvSpPr/>
            <p:nvPr/>
          </p:nvSpPr>
          <p:spPr>
            <a:xfrm>
              <a:off x="6549060" y="3978567"/>
              <a:ext cx="26958" cy="10630"/>
            </a:xfrm>
            <a:custGeom>
              <a:rect b="b" l="l" r="r" t="t"/>
              <a:pathLst>
                <a:path extrusionOk="0" h="334" w="847">
                  <a:moveTo>
                    <a:pt x="156" y="0"/>
                  </a:moveTo>
                  <a:cubicBezTo>
                    <a:pt x="72" y="0"/>
                    <a:pt x="1" y="84"/>
                    <a:pt x="1" y="167"/>
                  </a:cubicBezTo>
                  <a:cubicBezTo>
                    <a:pt x="1" y="262"/>
                    <a:pt x="72" y="334"/>
                    <a:pt x="156" y="334"/>
                  </a:cubicBezTo>
                  <a:lnTo>
                    <a:pt x="680" y="334"/>
                  </a:lnTo>
                  <a:cubicBezTo>
                    <a:pt x="763" y="334"/>
                    <a:pt x="846" y="262"/>
                    <a:pt x="846" y="167"/>
                  </a:cubicBezTo>
                  <a:cubicBezTo>
                    <a:pt x="846" y="84"/>
                    <a:pt x="775" y="0"/>
                    <a:pt x="680" y="0"/>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129" name="Google Shape;129;p28"/>
            <p:cNvSpPr/>
            <p:nvPr/>
          </p:nvSpPr>
          <p:spPr>
            <a:xfrm>
              <a:off x="6525572" y="3915357"/>
              <a:ext cx="24666" cy="22311"/>
            </a:xfrm>
            <a:custGeom>
              <a:rect b="b" l="l" r="r" t="t"/>
              <a:pathLst>
                <a:path extrusionOk="0" h="701" w="775">
                  <a:moveTo>
                    <a:pt x="605" y="1"/>
                  </a:moveTo>
                  <a:cubicBezTo>
                    <a:pt x="563" y="1"/>
                    <a:pt x="519" y="16"/>
                    <a:pt x="477" y="46"/>
                  </a:cubicBezTo>
                  <a:lnTo>
                    <a:pt x="108" y="415"/>
                  </a:lnTo>
                  <a:cubicBezTo>
                    <a:pt x="1" y="522"/>
                    <a:pt x="84" y="700"/>
                    <a:pt x="227" y="700"/>
                  </a:cubicBezTo>
                  <a:cubicBezTo>
                    <a:pt x="275" y="700"/>
                    <a:pt x="322" y="677"/>
                    <a:pt x="346" y="653"/>
                  </a:cubicBezTo>
                  <a:lnTo>
                    <a:pt x="715" y="284"/>
                  </a:lnTo>
                  <a:cubicBezTo>
                    <a:pt x="775" y="224"/>
                    <a:pt x="775" y="117"/>
                    <a:pt x="715" y="46"/>
                  </a:cubicBezTo>
                  <a:cubicBezTo>
                    <a:pt x="685" y="16"/>
                    <a:pt x="647" y="1"/>
                    <a:pt x="605" y="1"/>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130" name="Google Shape;130;p28"/>
            <p:cNvSpPr/>
            <p:nvPr/>
          </p:nvSpPr>
          <p:spPr>
            <a:xfrm>
              <a:off x="6527099" y="4030191"/>
              <a:ext cx="23139" cy="22661"/>
            </a:xfrm>
            <a:custGeom>
              <a:rect b="b" l="l" r="r" t="t"/>
              <a:pathLst>
                <a:path extrusionOk="0" h="712" w="727">
                  <a:moveTo>
                    <a:pt x="183" y="1"/>
                  </a:moveTo>
                  <a:cubicBezTo>
                    <a:pt x="140" y="1"/>
                    <a:pt x="96" y="15"/>
                    <a:pt x="60" y="45"/>
                  </a:cubicBezTo>
                  <a:cubicBezTo>
                    <a:pt x="0" y="105"/>
                    <a:pt x="0" y="212"/>
                    <a:pt x="60" y="283"/>
                  </a:cubicBezTo>
                  <a:lnTo>
                    <a:pt x="429" y="664"/>
                  </a:lnTo>
                  <a:cubicBezTo>
                    <a:pt x="466" y="696"/>
                    <a:pt x="505" y="711"/>
                    <a:pt x="543" y="711"/>
                  </a:cubicBezTo>
                  <a:cubicBezTo>
                    <a:pt x="590" y="711"/>
                    <a:pt x="634" y="687"/>
                    <a:pt x="667" y="641"/>
                  </a:cubicBezTo>
                  <a:cubicBezTo>
                    <a:pt x="727" y="569"/>
                    <a:pt x="727" y="486"/>
                    <a:pt x="667" y="426"/>
                  </a:cubicBezTo>
                  <a:lnTo>
                    <a:pt x="298" y="45"/>
                  </a:lnTo>
                  <a:cubicBezTo>
                    <a:pt x="268" y="15"/>
                    <a:pt x="227" y="1"/>
                    <a:pt x="183" y="1"/>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grpSp>
      <p:grpSp>
        <p:nvGrpSpPr>
          <p:cNvPr id="131" name="Google Shape;131;p28"/>
          <p:cNvGrpSpPr/>
          <p:nvPr/>
        </p:nvGrpSpPr>
        <p:grpSpPr>
          <a:xfrm>
            <a:off x="823592" y="2991726"/>
            <a:ext cx="346035" cy="369900"/>
            <a:chOff x="6219391" y="3915357"/>
            <a:chExt cx="356627" cy="471751"/>
          </a:xfrm>
        </p:grpSpPr>
        <p:sp>
          <p:nvSpPr>
            <p:cNvPr id="132" name="Google Shape;132;p28"/>
            <p:cNvSpPr/>
            <p:nvPr/>
          </p:nvSpPr>
          <p:spPr>
            <a:xfrm>
              <a:off x="6219391" y="4052856"/>
              <a:ext cx="306594" cy="334252"/>
            </a:xfrm>
            <a:custGeom>
              <a:rect b="b" l="l" r="r" t="t"/>
              <a:pathLst>
                <a:path extrusionOk="0" h="10502" w="9633">
                  <a:moveTo>
                    <a:pt x="8394" y="4179"/>
                  </a:moveTo>
                  <a:cubicBezTo>
                    <a:pt x="8906" y="4251"/>
                    <a:pt x="9299" y="4703"/>
                    <a:pt x="9299" y="5239"/>
                  </a:cubicBezTo>
                  <a:cubicBezTo>
                    <a:pt x="9299" y="5775"/>
                    <a:pt x="8906" y="6215"/>
                    <a:pt x="8394" y="6299"/>
                  </a:cubicBezTo>
                  <a:lnTo>
                    <a:pt x="8394" y="4179"/>
                  </a:lnTo>
                  <a:close/>
                  <a:moveTo>
                    <a:pt x="1203" y="4013"/>
                  </a:moveTo>
                  <a:lnTo>
                    <a:pt x="1203" y="6489"/>
                  </a:lnTo>
                  <a:lnTo>
                    <a:pt x="846" y="6489"/>
                  </a:lnTo>
                  <a:cubicBezTo>
                    <a:pt x="548" y="6489"/>
                    <a:pt x="310" y="6251"/>
                    <a:pt x="310" y="5953"/>
                  </a:cubicBezTo>
                  <a:lnTo>
                    <a:pt x="310" y="4549"/>
                  </a:lnTo>
                  <a:cubicBezTo>
                    <a:pt x="310" y="4251"/>
                    <a:pt x="548" y="4013"/>
                    <a:pt x="846" y="4013"/>
                  </a:cubicBezTo>
                  <a:close/>
                  <a:moveTo>
                    <a:pt x="2596" y="4001"/>
                  </a:moveTo>
                  <a:lnTo>
                    <a:pt x="2596" y="6489"/>
                  </a:lnTo>
                  <a:lnTo>
                    <a:pt x="1525" y="6489"/>
                  </a:lnTo>
                  <a:lnTo>
                    <a:pt x="1525" y="4001"/>
                  </a:lnTo>
                  <a:close/>
                  <a:moveTo>
                    <a:pt x="2799" y="7692"/>
                  </a:moveTo>
                  <a:lnTo>
                    <a:pt x="2799" y="8418"/>
                  </a:lnTo>
                  <a:lnTo>
                    <a:pt x="2477" y="8418"/>
                  </a:lnTo>
                  <a:lnTo>
                    <a:pt x="2679" y="7692"/>
                  </a:lnTo>
                  <a:close/>
                  <a:moveTo>
                    <a:pt x="2560" y="6811"/>
                  </a:moveTo>
                  <a:lnTo>
                    <a:pt x="1941" y="9121"/>
                  </a:lnTo>
                  <a:lnTo>
                    <a:pt x="1525" y="9121"/>
                  </a:lnTo>
                  <a:lnTo>
                    <a:pt x="1525" y="6811"/>
                  </a:lnTo>
                  <a:close/>
                  <a:moveTo>
                    <a:pt x="8061" y="310"/>
                  </a:moveTo>
                  <a:lnTo>
                    <a:pt x="8061" y="10180"/>
                  </a:lnTo>
                  <a:lnTo>
                    <a:pt x="7335" y="10180"/>
                  </a:lnTo>
                  <a:lnTo>
                    <a:pt x="7335" y="3227"/>
                  </a:lnTo>
                  <a:cubicBezTo>
                    <a:pt x="7335" y="3132"/>
                    <a:pt x="7251" y="3060"/>
                    <a:pt x="7168" y="3060"/>
                  </a:cubicBezTo>
                  <a:cubicBezTo>
                    <a:pt x="7085" y="3060"/>
                    <a:pt x="7001" y="3132"/>
                    <a:pt x="7001" y="3227"/>
                  </a:cubicBezTo>
                  <a:lnTo>
                    <a:pt x="7001" y="9085"/>
                  </a:lnTo>
                  <a:cubicBezTo>
                    <a:pt x="6799" y="8811"/>
                    <a:pt x="6489" y="8406"/>
                    <a:pt x="6085" y="8013"/>
                  </a:cubicBezTo>
                  <a:cubicBezTo>
                    <a:pt x="5620" y="7573"/>
                    <a:pt x="5144" y="7216"/>
                    <a:pt x="4656" y="6966"/>
                  </a:cubicBezTo>
                  <a:cubicBezTo>
                    <a:pt x="4084" y="6668"/>
                    <a:pt x="3525" y="6501"/>
                    <a:pt x="2941" y="6489"/>
                  </a:cubicBezTo>
                  <a:lnTo>
                    <a:pt x="2941" y="4001"/>
                  </a:lnTo>
                  <a:cubicBezTo>
                    <a:pt x="3525" y="3965"/>
                    <a:pt x="4084" y="3810"/>
                    <a:pt x="4656" y="3525"/>
                  </a:cubicBezTo>
                  <a:cubicBezTo>
                    <a:pt x="5144" y="3275"/>
                    <a:pt x="5620" y="2917"/>
                    <a:pt x="6085" y="2465"/>
                  </a:cubicBezTo>
                  <a:cubicBezTo>
                    <a:pt x="6489" y="2084"/>
                    <a:pt x="6799" y="1679"/>
                    <a:pt x="7001" y="1393"/>
                  </a:cubicBezTo>
                  <a:lnTo>
                    <a:pt x="7001" y="2441"/>
                  </a:lnTo>
                  <a:cubicBezTo>
                    <a:pt x="7001" y="2524"/>
                    <a:pt x="7085" y="2596"/>
                    <a:pt x="7168" y="2596"/>
                  </a:cubicBezTo>
                  <a:cubicBezTo>
                    <a:pt x="7251" y="2596"/>
                    <a:pt x="7335" y="2524"/>
                    <a:pt x="7335" y="2441"/>
                  </a:cubicBezTo>
                  <a:lnTo>
                    <a:pt x="7335" y="310"/>
                  </a:lnTo>
                  <a:close/>
                  <a:moveTo>
                    <a:pt x="7168" y="0"/>
                  </a:moveTo>
                  <a:cubicBezTo>
                    <a:pt x="7085" y="0"/>
                    <a:pt x="7001" y="72"/>
                    <a:pt x="7001" y="167"/>
                  </a:cubicBezTo>
                  <a:lnTo>
                    <a:pt x="7001" y="822"/>
                  </a:lnTo>
                  <a:cubicBezTo>
                    <a:pt x="6906" y="977"/>
                    <a:pt x="6489" y="1620"/>
                    <a:pt x="5847" y="2251"/>
                  </a:cubicBezTo>
                  <a:cubicBezTo>
                    <a:pt x="5156" y="2905"/>
                    <a:pt x="4084" y="3691"/>
                    <a:pt x="2775" y="3691"/>
                  </a:cubicBezTo>
                  <a:lnTo>
                    <a:pt x="858" y="3691"/>
                  </a:lnTo>
                  <a:cubicBezTo>
                    <a:pt x="382" y="3691"/>
                    <a:pt x="1" y="4072"/>
                    <a:pt x="1" y="4549"/>
                  </a:cubicBezTo>
                  <a:lnTo>
                    <a:pt x="1" y="5953"/>
                  </a:lnTo>
                  <a:cubicBezTo>
                    <a:pt x="1" y="6430"/>
                    <a:pt x="382" y="6811"/>
                    <a:pt x="858" y="6811"/>
                  </a:cubicBezTo>
                  <a:lnTo>
                    <a:pt x="1215" y="6811"/>
                  </a:lnTo>
                  <a:lnTo>
                    <a:pt x="1215" y="9287"/>
                  </a:lnTo>
                  <a:cubicBezTo>
                    <a:pt x="1215" y="9371"/>
                    <a:pt x="1286" y="9454"/>
                    <a:pt x="1382" y="9454"/>
                  </a:cubicBezTo>
                  <a:lnTo>
                    <a:pt x="2084" y="9454"/>
                  </a:lnTo>
                  <a:cubicBezTo>
                    <a:pt x="2156" y="9454"/>
                    <a:pt x="2215" y="9406"/>
                    <a:pt x="2239" y="9335"/>
                  </a:cubicBezTo>
                  <a:lnTo>
                    <a:pt x="2394" y="8751"/>
                  </a:lnTo>
                  <a:lnTo>
                    <a:pt x="2953" y="8751"/>
                  </a:lnTo>
                  <a:cubicBezTo>
                    <a:pt x="3049" y="8751"/>
                    <a:pt x="3120" y="8680"/>
                    <a:pt x="3120" y="8585"/>
                  </a:cubicBezTo>
                  <a:lnTo>
                    <a:pt x="3120" y="7525"/>
                  </a:lnTo>
                  <a:cubicBezTo>
                    <a:pt x="3120" y="7442"/>
                    <a:pt x="3049" y="7370"/>
                    <a:pt x="2953" y="7370"/>
                  </a:cubicBezTo>
                  <a:lnTo>
                    <a:pt x="2763" y="7370"/>
                  </a:lnTo>
                  <a:lnTo>
                    <a:pt x="2918" y="6811"/>
                  </a:lnTo>
                  <a:cubicBezTo>
                    <a:pt x="4168" y="6858"/>
                    <a:pt x="5192" y="7620"/>
                    <a:pt x="5858" y="8263"/>
                  </a:cubicBezTo>
                  <a:cubicBezTo>
                    <a:pt x="6513" y="8882"/>
                    <a:pt x="6930" y="9525"/>
                    <a:pt x="7025" y="9692"/>
                  </a:cubicBezTo>
                  <a:lnTo>
                    <a:pt x="7025" y="10347"/>
                  </a:lnTo>
                  <a:cubicBezTo>
                    <a:pt x="7025" y="10430"/>
                    <a:pt x="7097" y="10502"/>
                    <a:pt x="7180" y="10502"/>
                  </a:cubicBezTo>
                  <a:lnTo>
                    <a:pt x="8240" y="10502"/>
                  </a:lnTo>
                  <a:cubicBezTo>
                    <a:pt x="8335" y="10502"/>
                    <a:pt x="8406" y="10430"/>
                    <a:pt x="8406" y="10347"/>
                  </a:cubicBezTo>
                  <a:lnTo>
                    <a:pt x="8406" y="6632"/>
                  </a:lnTo>
                  <a:cubicBezTo>
                    <a:pt x="9109" y="6549"/>
                    <a:pt x="9633" y="5965"/>
                    <a:pt x="9633" y="5251"/>
                  </a:cubicBezTo>
                  <a:cubicBezTo>
                    <a:pt x="9621" y="4537"/>
                    <a:pt x="9085" y="3941"/>
                    <a:pt x="8394" y="3870"/>
                  </a:cubicBezTo>
                  <a:lnTo>
                    <a:pt x="8394" y="167"/>
                  </a:lnTo>
                  <a:cubicBezTo>
                    <a:pt x="8394" y="72"/>
                    <a:pt x="8311" y="0"/>
                    <a:pt x="8228" y="0"/>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133" name="Google Shape;133;p28"/>
            <p:cNvSpPr/>
            <p:nvPr/>
          </p:nvSpPr>
          <p:spPr>
            <a:xfrm>
              <a:off x="6549060" y="3978567"/>
              <a:ext cx="26958" cy="10630"/>
            </a:xfrm>
            <a:custGeom>
              <a:rect b="b" l="l" r="r" t="t"/>
              <a:pathLst>
                <a:path extrusionOk="0" h="334" w="847">
                  <a:moveTo>
                    <a:pt x="156" y="0"/>
                  </a:moveTo>
                  <a:cubicBezTo>
                    <a:pt x="72" y="0"/>
                    <a:pt x="1" y="84"/>
                    <a:pt x="1" y="167"/>
                  </a:cubicBezTo>
                  <a:cubicBezTo>
                    <a:pt x="1" y="262"/>
                    <a:pt x="72" y="334"/>
                    <a:pt x="156" y="334"/>
                  </a:cubicBezTo>
                  <a:lnTo>
                    <a:pt x="680" y="334"/>
                  </a:lnTo>
                  <a:cubicBezTo>
                    <a:pt x="763" y="334"/>
                    <a:pt x="846" y="262"/>
                    <a:pt x="846" y="167"/>
                  </a:cubicBezTo>
                  <a:cubicBezTo>
                    <a:pt x="846" y="84"/>
                    <a:pt x="775" y="0"/>
                    <a:pt x="680" y="0"/>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134" name="Google Shape;134;p28"/>
            <p:cNvSpPr/>
            <p:nvPr/>
          </p:nvSpPr>
          <p:spPr>
            <a:xfrm>
              <a:off x="6525572" y="3915357"/>
              <a:ext cx="24666" cy="22311"/>
            </a:xfrm>
            <a:custGeom>
              <a:rect b="b" l="l" r="r" t="t"/>
              <a:pathLst>
                <a:path extrusionOk="0" h="701" w="775">
                  <a:moveTo>
                    <a:pt x="605" y="1"/>
                  </a:moveTo>
                  <a:cubicBezTo>
                    <a:pt x="563" y="1"/>
                    <a:pt x="519" y="16"/>
                    <a:pt x="477" y="46"/>
                  </a:cubicBezTo>
                  <a:lnTo>
                    <a:pt x="108" y="415"/>
                  </a:lnTo>
                  <a:cubicBezTo>
                    <a:pt x="1" y="522"/>
                    <a:pt x="84" y="700"/>
                    <a:pt x="227" y="700"/>
                  </a:cubicBezTo>
                  <a:cubicBezTo>
                    <a:pt x="275" y="700"/>
                    <a:pt x="322" y="677"/>
                    <a:pt x="346" y="653"/>
                  </a:cubicBezTo>
                  <a:lnTo>
                    <a:pt x="715" y="284"/>
                  </a:lnTo>
                  <a:cubicBezTo>
                    <a:pt x="775" y="224"/>
                    <a:pt x="775" y="117"/>
                    <a:pt x="715" y="46"/>
                  </a:cubicBezTo>
                  <a:cubicBezTo>
                    <a:pt x="685" y="16"/>
                    <a:pt x="647" y="1"/>
                    <a:pt x="605" y="1"/>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135" name="Google Shape;135;p28"/>
            <p:cNvSpPr/>
            <p:nvPr/>
          </p:nvSpPr>
          <p:spPr>
            <a:xfrm>
              <a:off x="6527099" y="4030191"/>
              <a:ext cx="23139" cy="22661"/>
            </a:xfrm>
            <a:custGeom>
              <a:rect b="b" l="l" r="r" t="t"/>
              <a:pathLst>
                <a:path extrusionOk="0" h="712" w="727">
                  <a:moveTo>
                    <a:pt x="183" y="1"/>
                  </a:moveTo>
                  <a:cubicBezTo>
                    <a:pt x="140" y="1"/>
                    <a:pt x="96" y="15"/>
                    <a:pt x="60" y="45"/>
                  </a:cubicBezTo>
                  <a:cubicBezTo>
                    <a:pt x="0" y="105"/>
                    <a:pt x="0" y="212"/>
                    <a:pt x="60" y="283"/>
                  </a:cubicBezTo>
                  <a:lnTo>
                    <a:pt x="429" y="664"/>
                  </a:lnTo>
                  <a:cubicBezTo>
                    <a:pt x="466" y="696"/>
                    <a:pt x="505" y="711"/>
                    <a:pt x="543" y="711"/>
                  </a:cubicBezTo>
                  <a:cubicBezTo>
                    <a:pt x="590" y="711"/>
                    <a:pt x="634" y="687"/>
                    <a:pt x="667" y="641"/>
                  </a:cubicBezTo>
                  <a:cubicBezTo>
                    <a:pt x="727" y="569"/>
                    <a:pt x="727" y="486"/>
                    <a:pt x="667" y="426"/>
                  </a:cubicBezTo>
                  <a:lnTo>
                    <a:pt x="298" y="45"/>
                  </a:lnTo>
                  <a:cubicBezTo>
                    <a:pt x="268" y="15"/>
                    <a:pt x="227" y="1"/>
                    <a:pt x="183" y="1"/>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9"/>
          <p:cNvSpPr txBox="1"/>
          <p:nvPr>
            <p:ph type="ctrTitle"/>
          </p:nvPr>
        </p:nvSpPr>
        <p:spPr>
          <a:xfrm>
            <a:off x="1597800" y="441187"/>
            <a:ext cx="5933400" cy="42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100">
                <a:highlight>
                  <a:srgbClr val="FFFFFF"/>
                </a:highlight>
              </a:rPr>
              <a:t>Literature Review</a:t>
            </a:r>
            <a:endParaRPr sz="3100"/>
          </a:p>
        </p:txBody>
      </p:sp>
      <p:sp>
        <p:nvSpPr>
          <p:cNvPr id="141" name="Google Shape;141;p29"/>
          <p:cNvSpPr txBox="1"/>
          <p:nvPr>
            <p:ph idx="1" type="subTitle"/>
          </p:nvPr>
        </p:nvSpPr>
        <p:spPr>
          <a:xfrm>
            <a:off x="728700" y="1234275"/>
            <a:ext cx="7686600" cy="3272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sz="1300"/>
              <a:t>The literature on bias in recommendation systems, particularly in the domain of news recommendation algorithms, highlights the importance of addressing bias. Previous research has identified various types of biases inherent in </a:t>
            </a:r>
            <a:r>
              <a:rPr lang="en" sz="1300"/>
              <a:t>recommendation</a:t>
            </a:r>
            <a:r>
              <a:rPr lang="en" sz="1300"/>
              <a:t> algorithms, </a:t>
            </a:r>
            <a:r>
              <a:rPr lang="en" sz="1300"/>
              <a:t>including</a:t>
            </a:r>
            <a:r>
              <a:rPr lang="en" sz="1300"/>
              <a:t> algorithmic bias, personalization bias, and content bias.</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Diversity analysis has emerged as a common approach for identifying biases in recommendation systems. And fairness-aware recommendation frameworks have been proposed to mitigate biases and ensure equitable content distribution across user demographics.</a:t>
            </a:r>
            <a:endParaRPr sz="1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0"/>
          <p:cNvSpPr txBox="1"/>
          <p:nvPr>
            <p:ph type="ctrTitle"/>
          </p:nvPr>
        </p:nvSpPr>
        <p:spPr>
          <a:xfrm>
            <a:off x="1597800" y="441187"/>
            <a:ext cx="5933400" cy="42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100">
                <a:highlight>
                  <a:srgbClr val="FFFFFF"/>
                </a:highlight>
              </a:rPr>
              <a:t>Literature Review Cont.</a:t>
            </a:r>
            <a:endParaRPr sz="3100"/>
          </a:p>
        </p:txBody>
      </p:sp>
      <p:sp>
        <p:nvSpPr>
          <p:cNvPr id="147" name="Google Shape;147;p30"/>
          <p:cNvSpPr txBox="1"/>
          <p:nvPr>
            <p:ph idx="1" type="subTitle"/>
          </p:nvPr>
        </p:nvSpPr>
        <p:spPr>
          <a:xfrm>
            <a:off x="728700" y="1234275"/>
            <a:ext cx="7686600" cy="3272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sz="1300"/>
              <a:t>Our focus is on identifying biases in news recommendation algorithms using the MIND: Microsoft News Dataset, such as overexposure to certain topics or the underrepresentation of other topics, and developing effective methods to mitigate said biases.</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In the context of news recommendation algorithms, our research is focused on leveraging the large-scale dataset MIND: Microsoft News Dataset. </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By incorporating user history, news embeddings, and attention mechanisms from the MIND dataset, the DKN algorithm aims to provide personalized recommendations while mitigating biases associated with topic overexposure and underrepresentation.</a:t>
            </a:r>
            <a:endParaRPr sz="1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1"/>
          <p:cNvSpPr txBox="1"/>
          <p:nvPr>
            <p:ph type="ctrTitle"/>
          </p:nvPr>
        </p:nvSpPr>
        <p:spPr>
          <a:xfrm>
            <a:off x="1597800" y="441187"/>
            <a:ext cx="5933400" cy="42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sz="3100">
                <a:highlight>
                  <a:srgbClr val="FFFFFF"/>
                </a:highlight>
              </a:rPr>
              <a:t>Proposed Approach</a:t>
            </a:r>
            <a:endParaRPr sz="3100"/>
          </a:p>
        </p:txBody>
      </p:sp>
      <p:sp>
        <p:nvSpPr>
          <p:cNvPr id="153" name="Google Shape;153;p31"/>
          <p:cNvSpPr txBox="1"/>
          <p:nvPr/>
        </p:nvSpPr>
        <p:spPr>
          <a:xfrm>
            <a:off x="728700" y="1234275"/>
            <a:ext cx="7686600" cy="2616600"/>
          </a:xfrm>
          <a:prstGeom prst="rect">
            <a:avLst/>
          </a:prstGeom>
          <a:noFill/>
          <a:ln>
            <a:noFill/>
          </a:ln>
        </p:spPr>
        <p:txBody>
          <a:bodyPr anchorCtr="0" anchor="t" bIns="91425" lIns="91425" spcFirstLastPara="1" rIns="91425" wrap="square" tIns="91425">
            <a:normAutofit/>
          </a:bodyPr>
          <a:lstStyle/>
          <a:p>
            <a:pPr indent="-311150" lvl="0" marL="4572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Deep Knowledge-aware Network</a:t>
            </a:r>
            <a:endParaRPr/>
          </a:p>
          <a:p>
            <a:pPr indent="-311150" lvl="2" marL="9144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Knowledge distillation</a:t>
            </a:r>
            <a:r>
              <a:rPr b="0" i="0" lang="en" sz="1400" u="none" cap="none" strike="noStrike">
                <a:solidFill>
                  <a:schemeClr val="dk2"/>
                </a:solidFill>
                <a:latin typeface="Arial"/>
                <a:ea typeface="Arial"/>
                <a:cs typeface="Arial"/>
                <a:sym typeface="Arial"/>
              </a:rPr>
              <a:t> </a:t>
            </a:r>
            <a:endParaRPr b="0" i="0" sz="1400" u="none" cap="none" strike="noStrike">
              <a:solidFill>
                <a:schemeClr val="dk2"/>
              </a:solidFill>
              <a:latin typeface="Arial"/>
              <a:ea typeface="Arial"/>
              <a:cs typeface="Arial"/>
              <a:sym typeface="Arial"/>
            </a:endParaRPr>
          </a:p>
          <a:p>
            <a:pPr indent="-311150" lvl="2" marL="9144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Knowledge-aware CNN</a:t>
            </a:r>
            <a:endParaRPr b="0" i="0" sz="1400" u="none" cap="none" strike="noStrike">
              <a:solidFill>
                <a:schemeClr val="dk2"/>
              </a:solidFill>
              <a:latin typeface="Merriweather"/>
              <a:ea typeface="Merriweather"/>
              <a:cs typeface="Merriweather"/>
              <a:sym typeface="Merriweather"/>
            </a:endParaRPr>
          </a:p>
          <a:p>
            <a:pPr indent="-228600" lvl="0" marL="457200" marR="0" rtl="0" algn="l">
              <a:lnSpc>
                <a:spcPct val="150000"/>
              </a:lnSpc>
              <a:spcBef>
                <a:spcPts val="0"/>
              </a:spcBef>
              <a:spcAft>
                <a:spcPts val="0"/>
              </a:spcAft>
              <a:buClr>
                <a:schemeClr val="dk2"/>
              </a:buClr>
              <a:buSzPts val="1300"/>
              <a:buFont typeface="Roboto"/>
              <a:buNone/>
            </a:pPr>
            <a:r>
              <a:t/>
            </a:r>
            <a:endParaRPr b="0" i="0" sz="1400" u="none" cap="none" strike="noStrike">
              <a:solidFill>
                <a:schemeClr val="dk2"/>
              </a:solidFill>
              <a:latin typeface="Merriweather"/>
              <a:ea typeface="Merriweather"/>
              <a:cs typeface="Merriweather"/>
              <a:sym typeface="Merriweather"/>
            </a:endParaRPr>
          </a:p>
          <a:p>
            <a:pPr indent="-311150" lvl="0" marL="4572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Gated Recurrent Unit (GRU)</a:t>
            </a:r>
            <a:endParaRPr/>
          </a:p>
          <a:p>
            <a:pPr indent="-228600" lvl="0" marL="457200" marR="0" rtl="0" algn="l">
              <a:lnSpc>
                <a:spcPct val="100000"/>
              </a:lnSpc>
              <a:spcBef>
                <a:spcPts val="0"/>
              </a:spcBef>
              <a:spcAft>
                <a:spcPts val="0"/>
              </a:spcAft>
              <a:buClr>
                <a:schemeClr val="dk2"/>
              </a:buClr>
              <a:buSzPts val="1300"/>
              <a:buFont typeface="Roboto"/>
              <a:buNone/>
            </a:pPr>
            <a:r>
              <a:t/>
            </a:r>
            <a:endParaRPr b="0" i="0" sz="1300" u="none" cap="none" strike="noStrike">
              <a:solidFill>
                <a:schemeClr val="dk2"/>
              </a:solidFill>
              <a:latin typeface="Merriweather"/>
              <a:ea typeface="Merriweather"/>
              <a:cs typeface="Merriweather"/>
              <a:sym typeface="Merriweath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2"/>
          <p:cNvSpPr txBox="1"/>
          <p:nvPr>
            <p:ph type="ctrTitle"/>
          </p:nvPr>
        </p:nvSpPr>
        <p:spPr>
          <a:xfrm>
            <a:off x="1597800" y="441187"/>
            <a:ext cx="5933400" cy="42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sz="3100">
                <a:highlight>
                  <a:srgbClr val="FFFFFF"/>
                </a:highlight>
              </a:rPr>
              <a:t>Proposed Approach</a:t>
            </a:r>
            <a:endParaRPr sz="3100"/>
          </a:p>
        </p:txBody>
      </p:sp>
      <p:sp>
        <p:nvSpPr>
          <p:cNvPr id="159" name="Google Shape;159;p32"/>
          <p:cNvSpPr txBox="1"/>
          <p:nvPr/>
        </p:nvSpPr>
        <p:spPr>
          <a:xfrm>
            <a:off x="728700" y="1234275"/>
            <a:ext cx="7686600" cy="1026916"/>
          </a:xfrm>
          <a:prstGeom prst="rect">
            <a:avLst/>
          </a:prstGeom>
          <a:noFill/>
          <a:ln>
            <a:noFill/>
          </a:ln>
        </p:spPr>
        <p:txBody>
          <a:bodyPr anchorCtr="0" anchor="t" bIns="91425" lIns="91425" spcFirstLastPara="1" rIns="91425" wrap="square" tIns="91425">
            <a:normAutofit/>
          </a:bodyPr>
          <a:lstStyle/>
          <a:p>
            <a:pPr indent="-311150" lvl="0" marL="4572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Deep Knowledge-aware Network</a:t>
            </a:r>
            <a:endParaRPr/>
          </a:p>
          <a:p>
            <a:pPr indent="-311150" lvl="2" marL="9144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Knowledge distillation</a:t>
            </a:r>
            <a:r>
              <a:rPr b="0" i="0" lang="en" sz="1400" u="none" cap="none" strike="noStrike">
                <a:solidFill>
                  <a:schemeClr val="dk2"/>
                </a:solidFill>
                <a:latin typeface="Arial"/>
                <a:ea typeface="Arial"/>
                <a:cs typeface="Arial"/>
                <a:sym typeface="Arial"/>
              </a:rPr>
              <a:t> </a:t>
            </a:r>
            <a:endParaRPr b="0" i="0" sz="1400" u="none" cap="none" strike="noStrike">
              <a:solidFill>
                <a:schemeClr val="dk2"/>
              </a:solidFill>
              <a:latin typeface="Arial"/>
              <a:ea typeface="Arial"/>
              <a:cs typeface="Arial"/>
              <a:sym typeface="Arial"/>
            </a:endParaRPr>
          </a:p>
        </p:txBody>
      </p:sp>
      <p:pic>
        <p:nvPicPr>
          <p:cNvPr id="160" name="Google Shape;160;p32"/>
          <p:cNvPicPr preferRelativeResize="0"/>
          <p:nvPr/>
        </p:nvPicPr>
        <p:blipFill rotWithShape="1">
          <a:blip r:embed="rId3">
            <a:alphaModFix/>
          </a:blip>
          <a:srcRect b="0" l="0" r="0" t="0"/>
          <a:stretch/>
        </p:blipFill>
        <p:spPr>
          <a:xfrm>
            <a:off x="1701207" y="2105195"/>
            <a:ext cx="5741586" cy="259711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3"/>
          <p:cNvSpPr txBox="1"/>
          <p:nvPr>
            <p:ph type="ctrTitle"/>
          </p:nvPr>
        </p:nvSpPr>
        <p:spPr>
          <a:xfrm>
            <a:off x="1597800" y="441187"/>
            <a:ext cx="5933400" cy="42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sz="3100">
                <a:highlight>
                  <a:srgbClr val="FFFFFF"/>
                </a:highlight>
              </a:rPr>
              <a:t>Proposed Approach</a:t>
            </a:r>
            <a:endParaRPr sz="3100"/>
          </a:p>
        </p:txBody>
      </p:sp>
      <p:sp>
        <p:nvSpPr>
          <p:cNvPr id="166" name="Google Shape;166;p33"/>
          <p:cNvSpPr txBox="1"/>
          <p:nvPr/>
        </p:nvSpPr>
        <p:spPr>
          <a:xfrm>
            <a:off x="728700" y="1234275"/>
            <a:ext cx="7686600" cy="1026916"/>
          </a:xfrm>
          <a:prstGeom prst="rect">
            <a:avLst/>
          </a:prstGeom>
          <a:noFill/>
          <a:ln>
            <a:noFill/>
          </a:ln>
        </p:spPr>
        <p:txBody>
          <a:bodyPr anchorCtr="0" anchor="t" bIns="91425" lIns="91425" spcFirstLastPara="1" rIns="91425" wrap="square" tIns="91425">
            <a:noAutofit/>
          </a:bodyPr>
          <a:lstStyle/>
          <a:p>
            <a:pPr indent="-311150" lvl="0" marL="4572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Deep Knowledge-aware Network</a:t>
            </a:r>
            <a:endParaRPr/>
          </a:p>
          <a:p>
            <a:pPr indent="-311150" lvl="2" marL="9144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Knowledge distillation</a:t>
            </a:r>
            <a:r>
              <a:rPr b="0" i="0" lang="en" sz="1400" u="none" cap="none" strike="noStrike">
                <a:solidFill>
                  <a:schemeClr val="dk2"/>
                </a:solidFill>
                <a:latin typeface="Arial"/>
                <a:ea typeface="Arial"/>
                <a:cs typeface="Arial"/>
                <a:sym typeface="Arial"/>
              </a:rPr>
              <a:t> </a:t>
            </a:r>
            <a:endParaRPr/>
          </a:p>
          <a:p>
            <a:pPr indent="-311150" lvl="3" marL="13716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Google Satori</a:t>
            </a:r>
            <a:endParaRPr/>
          </a:p>
        </p:txBody>
      </p:sp>
      <p:grpSp>
        <p:nvGrpSpPr>
          <p:cNvPr id="167" name="Google Shape;167;p33"/>
          <p:cNvGrpSpPr/>
          <p:nvPr/>
        </p:nvGrpSpPr>
        <p:grpSpPr>
          <a:xfrm>
            <a:off x="192744" y="1234275"/>
            <a:ext cx="8769952" cy="3468038"/>
            <a:chOff x="192744" y="1234275"/>
            <a:chExt cx="8769952" cy="3468038"/>
          </a:xfrm>
        </p:grpSpPr>
        <p:pic>
          <p:nvPicPr>
            <p:cNvPr id="168" name="Google Shape;168;p33"/>
            <p:cNvPicPr preferRelativeResize="0"/>
            <p:nvPr/>
          </p:nvPicPr>
          <p:blipFill rotWithShape="1">
            <a:blip r:embed="rId3">
              <a:alphaModFix/>
            </a:blip>
            <a:srcRect b="0" l="0" r="0" t="0"/>
            <a:stretch/>
          </p:blipFill>
          <p:spPr>
            <a:xfrm>
              <a:off x="192744" y="2388577"/>
              <a:ext cx="5115100" cy="2313736"/>
            </a:xfrm>
            <a:prstGeom prst="rect">
              <a:avLst/>
            </a:prstGeom>
            <a:noFill/>
            <a:ln>
              <a:noFill/>
            </a:ln>
          </p:spPr>
        </p:pic>
        <p:pic>
          <p:nvPicPr>
            <p:cNvPr id="169" name="Google Shape;169;p33"/>
            <p:cNvPicPr preferRelativeResize="0"/>
            <p:nvPr/>
          </p:nvPicPr>
          <p:blipFill rotWithShape="1">
            <a:blip r:embed="rId4">
              <a:alphaModFix/>
            </a:blip>
            <a:srcRect b="1239" l="636" r="1229" t="11163"/>
            <a:stretch/>
          </p:blipFill>
          <p:spPr>
            <a:xfrm>
              <a:off x="5261271" y="1234275"/>
              <a:ext cx="3701425" cy="2033465"/>
            </a:xfrm>
            <a:prstGeom prst="rect">
              <a:avLst/>
            </a:prstGeom>
            <a:noFill/>
            <a:ln>
              <a:noFill/>
            </a:ln>
          </p:spPr>
        </p:pic>
        <p:sp>
          <p:nvSpPr>
            <p:cNvPr id="170" name="Google Shape;170;p33"/>
            <p:cNvSpPr/>
            <p:nvPr/>
          </p:nvSpPr>
          <p:spPr>
            <a:xfrm>
              <a:off x="4078514" y="3639843"/>
              <a:ext cx="1284515" cy="1062470"/>
            </a:xfrm>
            <a:prstGeom prst="rect">
              <a:avLst/>
            </a:prstGeom>
            <a:noFill/>
            <a:ln cap="flat" cmpd="sng" w="25400">
              <a:solidFill>
                <a:schemeClr val="dk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cxnSp>
        <p:nvCxnSpPr>
          <p:cNvPr id="171" name="Google Shape;171;p33"/>
          <p:cNvCxnSpPr>
            <a:stCxn id="170" idx="3"/>
            <a:endCxn id="169" idx="2"/>
          </p:cNvCxnSpPr>
          <p:nvPr/>
        </p:nvCxnSpPr>
        <p:spPr>
          <a:xfrm flipH="1" rot="10800000">
            <a:off x="5363029" y="3267778"/>
            <a:ext cx="1749000" cy="903300"/>
          </a:xfrm>
          <a:prstGeom prst="curvedConnector2">
            <a:avLst/>
          </a:prstGeom>
          <a:noFill/>
          <a:ln cap="flat" cmpd="sng" w="19050">
            <a:solidFill>
              <a:schemeClr val="dk1"/>
            </a:solidFill>
            <a:prstDash val="dot"/>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4"/>
          <p:cNvSpPr txBox="1"/>
          <p:nvPr>
            <p:ph type="ctrTitle"/>
          </p:nvPr>
        </p:nvSpPr>
        <p:spPr>
          <a:xfrm>
            <a:off x="1597800" y="441187"/>
            <a:ext cx="5933400" cy="42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sz="3100">
                <a:highlight>
                  <a:srgbClr val="FFFFFF"/>
                </a:highlight>
              </a:rPr>
              <a:t>Proposed Approach</a:t>
            </a:r>
            <a:endParaRPr sz="3100"/>
          </a:p>
        </p:txBody>
      </p:sp>
      <p:sp>
        <p:nvSpPr>
          <p:cNvPr id="177" name="Google Shape;177;p34"/>
          <p:cNvSpPr txBox="1"/>
          <p:nvPr/>
        </p:nvSpPr>
        <p:spPr>
          <a:xfrm>
            <a:off x="728700" y="1234275"/>
            <a:ext cx="7686600" cy="1026916"/>
          </a:xfrm>
          <a:prstGeom prst="rect">
            <a:avLst/>
          </a:prstGeom>
          <a:noFill/>
          <a:ln>
            <a:noFill/>
          </a:ln>
        </p:spPr>
        <p:txBody>
          <a:bodyPr anchorCtr="0" anchor="t" bIns="91425" lIns="91425" spcFirstLastPara="1" rIns="91425" wrap="square" tIns="91425">
            <a:noAutofit/>
          </a:bodyPr>
          <a:lstStyle/>
          <a:p>
            <a:pPr indent="-311150" lvl="0" marL="4572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Deep Knowledge-aware Network</a:t>
            </a:r>
            <a:endParaRPr/>
          </a:p>
          <a:p>
            <a:pPr indent="-311150" lvl="2" marL="9144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Knowledge distillation</a:t>
            </a:r>
            <a:r>
              <a:rPr b="0" i="0" lang="en" sz="1400" u="none" cap="none" strike="noStrike">
                <a:solidFill>
                  <a:schemeClr val="dk2"/>
                </a:solidFill>
                <a:latin typeface="Arial"/>
                <a:ea typeface="Arial"/>
                <a:cs typeface="Arial"/>
                <a:sym typeface="Arial"/>
              </a:rPr>
              <a:t> </a:t>
            </a:r>
            <a:endParaRPr/>
          </a:p>
          <a:p>
            <a:pPr indent="-311150" lvl="3" marL="13716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TransD</a:t>
            </a:r>
            <a:endParaRPr b="0" i="0" sz="1400" u="none" cap="none" strike="noStrike">
              <a:solidFill>
                <a:schemeClr val="dk2"/>
              </a:solidFill>
              <a:latin typeface="Merriweather"/>
              <a:ea typeface="Merriweather"/>
              <a:cs typeface="Merriweather"/>
              <a:sym typeface="Merriweather"/>
            </a:endParaRPr>
          </a:p>
        </p:txBody>
      </p:sp>
      <p:pic>
        <p:nvPicPr>
          <p:cNvPr id="178" name="Google Shape;178;p34"/>
          <p:cNvPicPr preferRelativeResize="0"/>
          <p:nvPr/>
        </p:nvPicPr>
        <p:blipFill rotWithShape="1">
          <a:blip r:embed="rId3">
            <a:alphaModFix/>
          </a:blip>
          <a:srcRect b="58189" l="4487" r="3965" t="2114"/>
          <a:stretch/>
        </p:blipFill>
        <p:spPr>
          <a:xfrm>
            <a:off x="232514" y="2631579"/>
            <a:ext cx="5087337" cy="2070734"/>
          </a:xfrm>
          <a:prstGeom prst="rect">
            <a:avLst/>
          </a:prstGeom>
          <a:noFill/>
          <a:ln>
            <a:noFill/>
          </a:ln>
        </p:spPr>
      </p:pic>
      <p:grpSp>
        <p:nvGrpSpPr>
          <p:cNvPr id="179" name="Google Shape;179;p34"/>
          <p:cNvGrpSpPr/>
          <p:nvPr/>
        </p:nvGrpSpPr>
        <p:grpSpPr>
          <a:xfrm>
            <a:off x="5473154" y="2631579"/>
            <a:ext cx="3438332" cy="1859838"/>
            <a:chOff x="1953509" y="2901753"/>
            <a:chExt cx="4236042" cy="2291329"/>
          </a:xfrm>
        </p:grpSpPr>
        <p:pic>
          <p:nvPicPr>
            <p:cNvPr id="180" name="Google Shape;180;p34"/>
            <p:cNvPicPr preferRelativeResize="0"/>
            <p:nvPr/>
          </p:nvPicPr>
          <p:blipFill rotWithShape="1">
            <a:blip r:embed="rId4">
              <a:alphaModFix/>
            </a:blip>
            <a:srcRect b="9768" l="2733" r="60784" t="53991"/>
            <a:stretch/>
          </p:blipFill>
          <p:spPr>
            <a:xfrm>
              <a:off x="1953509" y="3982568"/>
              <a:ext cx="1173971" cy="371685"/>
            </a:xfrm>
            <a:prstGeom prst="rect">
              <a:avLst/>
            </a:prstGeom>
            <a:noFill/>
            <a:ln>
              <a:noFill/>
            </a:ln>
          </p:spPr>
        </p:pic>
        <p:pic>
          <p:nvPicPr>
            <p:cNvPr id="181" name="Google Shape;181;p34"/>
            <p:cNvPicPr preferRelativeResize="0"/>
            <p:nvPr/>
          </p:nvPicPr>
          <p:blipFill rotWithShape="1">
            <a:blip r:embed="rId5">
              <a:alphaModFix/>
            </a:blip>
            <a:srcRect b="17161" l="9783" r="9995" t="21404"/>
            <a:stretch/>
          </p:blipFill>
          <p:spPr>
            <a:xfrm>
              <a:off x="1953509" y="4584190"/>
              <a:ext cx="4236042" cy="608892"/>
            </a:xfrm>
            <a:prstGeom prst="rect">
              <a:avLst/>
            </a:prstGeom>
            <a:noFill/>
            <a:ln>
              <a:noFill/>
            </a:ln>
          </p:spPr>
        </p:pic>
        <p:pic>
          <p:nvPicPr>
            <p:cNvPr id="182" name="Google Shape;182;p34"/>
            <p:cNvPicPr preferRelativeResize="0"/>
            <p:nvPr/>
          </p:nvPicPr>
          <p:blipFill rotWithShape="1">
            <a:blip r:embed="rId4">
              <a:alphaModFix/>
            </a:blip>
            <a:srcRect b="53990" l="54841" r="0" t="0"/>
            <a:stretch/>
          </p:blipFill>
          <p:spPr>
            <a:xfrm>
              <a:off x="1982820" y="2901753"/>
              <a:ext cx="1144660" cy="371685"/>
            </a:xfrm>
            <a:prstGeom prst="rect">
              <a:avLst/>
            </a:prstGeom>
            <a:noFill/>
            <a:ln>
              <a:noFill/>
            </a:ln>
          </p:spPr>
        </p:pic>
        <p:pic>
          <p:nvPicPr>
            <p:cNvPr id="183" name="Google Shape;183;p34"/>
            <p:cNvPicPr preferRelativeResize="0"/>
            <p:nvPr/>
          </p:nvPicPr>
          <p:blipFill rotWithShape="1">
            <a:blip r:embed="rId4">
              <a:alphaModFix/>
            </a:blip>
            <a:srcRect b="53990" l="0" r="52528" t="0"/>
            <a:stretch/>
          </p:blipFill>
          <p:spPr>
            <a:xfrm>
              <a:off x="1953509" y="3245879"/>
              <a:ext cx="1203282" cy="371685"/>
            </a:xfrm>
            <a:prstGeom prst="rect">
              <a:avLst/>
            </a:prstGeom>
            <a:noFill/>
            <a:ln>
              <a:noFill/>
            </a:ln>
          </p:spPr>
        </p:pic>
        <p:pic>
          <p:nvPicPr>
            <p:cNvPr id="184" name="Google Shape;184;p34"/>
            <p:cNvPicPr preferRelativeResize="0"/>
            <p:nvPr/>
          </p:nvPicPr>
          <p:blipFill rotWithShape="1">
            <a:blip r:embed="rId4">
              <a:alphaModFix/>
            </a:blip>
            <a:srcRect b="9768" l="43683" r="0" t="50884"/>
            <a:stretch/>
          </p:blipFill>
          <p:spPr>
            <a:xfrm>
              <a:off x="3057692" y="3968370"/>
              <a:ext cx="1812220" cy="403541"/>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5"/>
          <p:cNvSpPr txBox="1"/>
          <p:nvPr>
            <p:ph type="ctrTitle"/>
          </p:nvPr>
        </p:nvSpPr>
        <p:spPr>
          <a:xfrm>
            <a:off x="1597800" y="441187"/>
            <a:ext cx="5933400" cy="42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sz="3100">
                <a:highlight>
                  <a:srgbClr val="FFFFFF"/>
                </a:highlight>
              </a:rPr>
              <a:t>Proposed Approach</a:t>
            </a:r>
            <a:endParaRPr sz="3100"/>
          </a:p>
        </p:txBody>
      </p:sp>
      <p:sp>
        <p:nvSpPr>
          <p:cNvPr id="190" name="Google Shape;190;p35"/>
          <p:cNvSpPr txBox="1"/>
          <p:nvPr/>
        </p:nvSpPr>
        <p:spPr>
          <a:xfrm>
            <a:off x="728700" y="1234275"/>
            <a:ext cx="7686600" cy="1026916"/>
          </a:xfrm>
          <a:prstGeom prst="rect">
            <a:avLst/>
          </a:prstGeom>
          <a:noFill/>
          <a:ln>
            <a:noFill/>
          </a:ln>
        </p:spPr>
        <p:txBody>
          <a:bodyPr anchorCtr="0" anchor="t" bIns="91425" lIns="91425" spcFirstLastPara="1" rIns="91425" wrap="square" tIns="91425">
            <a:noAutofit/>
          </a:bodyPr>
          <a:lstStyle/>
          <a:p>
            <a:pPr indent="-311150" lvl="0" marL="4572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Deep Knowledge-aware Network</a:t>
            </a:r>
            <a:endParaRPr/>
          </a:p>
          <a:p>
            <a:pPr indent="-311150" lvl="2" marL="9144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Knowledge distillation</a:t>
            </a:r>
            <a:r>
              <a:rPr b="0" i="0" lang="en" sz="1400" u="none" cap="none" strike="noStrike">
                <a:solidFill>
                  <a:schemeClr val="dk2"/>
                </a:solidFill>
                <a:latin typeface="Arial"/>
                <a:ea typeface="Arial"/>
                <a:cs typeface="Arial"/>
                <a:sym typeface="Arial"/>
              </a:rPr>
              <a:t> </a:t>
            </a:r>
            <a:endParaRPr/>
          </a:p>
          <a:p>
            <a:pPr indent="-311150" lvl="3" marL="1371600" marR="0" rtl="0" algn="l">
              <a:lnSpc>
                <a:spcPct val="150000"/>
              </a:lnSpc>
              <a:spcBef>
                <a:spcPts val="0"/>
              </a:spcBef>
              <a:spcAft>
                <a:spcPts val="0"/>
              </a:spcAft>
              <a:buClr>
                <a:schemeClr val="dk2"/>
              </a:buClr>
              <a:buSzPts val="1300"/>
              <a:buFont typeface="Roboto"/>
              <a:buChar char="➔"/>
            </a:pPr>
            <a:r>
              <a:rPr lang="en">
                <a:solidFill>
                  <a:schemeClr val="dk2"/>
                </a:solidFill>
                <a:latin typeface="Merriweather"/>
                <a:ea typeface="Merriweather"/>
                <a:cs typeface="Merriweather"/>
                <a:sym typeface="Merriweather"/>
              </a:rPr>
              <a:t>context</a:t>
            </a:r>
            <a:r>
              <a:rPr b="0" i="0" lang="en" sz="1400" u="none" cap="none" strike="noStrike">
                <a:solidFill>
                  <a:schemeClr val="dk2"/>
                </a:solidFill>
                <a:latin typeface="Merriweather"/>
                <a:ea typeface="Merriweather"/>
                <a:cs typeface="Merriweather"/>
                <a:sym typeface="Merriweather"/>
              </a:rPr>
              <a:t> embedding</a:t>
            </a:r>
            <a:r>
              <a:rPr lang="en">
                <a:solidFill>
                  <a:schemeClr val="dk2"/>
                </a:solidFill>
                <a:latin typeface="Merriweather"/>
                <a:ea typeface="Merriweather"/>
                <a:cs typeface="Merriweather"/>
                <a:sym typeface="Merriweather"/>
              </a:rPr>
              <a:t>: </a:t>
            </a:r>
            <a:r>
              <a:rPr b="0" i="0" lang="en" sz="1400" u="none" cap="none" strike="noStrike">
                <a:solidFill>
                  <a:schemeClr val="dk2"/>
                </a:solidFill>
                <a:latin typeface="Merriweather"/>
                <a:ea typeface="Merriweather"/>
                <a:cs typeface="Merriweather"/>
                <a:sym typeface="Merriweather"/>
              </a:rPr>
              <a:t>the average of its contextual entities</a:t>
            </a:r>
            <a:endParaRPr/>
          </a:p>
        </p:txBody>
      </p:sp>
      <p:grpSp>
        <p:nvGrpSpPr>
          <p:cNvPr id="191" name="Google Shape;191;p35"/>
          <p:cNvGrpSpPr/>
          <p:nvPr/>
        </p:nvGrpSpPr>
        <p:grpSpPr>
          <a:xfrm>
            <a:off x="728700" y="2457893"/>
            <a:ext cx="7686600" cy="2387894"/>
            <a:chOff x="1026411" y="2433924"/>
            <a:chExt cx="7686600" cy="2387894"/>
          </a:xfrm>
        </p:grpSpPr>
        <p:pic>
          <p:nvPicPr>
            <p:cNvPr id="192" name="Google Shape;192;p35"/>
            <p:cNvPicPr preferRelativeResize="0"/>
            <p:nvPr/>
          </p:nvPicPr>
          <p:blipFill rotWithShape="1">
            <a:blip r:embed="rId3">
              <a:alphaModFix/>
            </a:blip>
            <a:srcRect b="0" l="0" r="0" t="0"/>
            <a:stretch/>
          </p:blipFill>
          <p:spPr>
            <a:xfrm>
              <a:off x="5670697" y="3220801"/>
              <a:ext cx="3042314" cy="814140"/>
            </a:xfrm>
            <a:prstGeom prst="rect">
              <a:avLst/>
            </a:prstGeom>
            <a:noFill/>
            <a:ln>
              <a:noFill/>
            </a:ln>
          </p:spPr>
        </p:pic>
        <p:pic>
          <p:nvPicPr>
            <p:cNvPr id="193" name="Google Shape;193;p35"/>
            <p:cNvPicPr preferRelativeResize="0"/>
            <p:nvPr/>
          </p:nvPicPr>
          <p:blipFill rotWithShape="1">
            <a:blip r:embed="rId4">
              <a:alphaModFix/>
            </a:blip>
            <a:srcRect b="1239" l="636" r="1229" t="11163"/>
            <a:stretch/>
          </p:blipFill>
          <p:spPr>
            <a:xfrm>
              <a:off x="1026411" y="2433924"/>
              <a:ext cx="4346575" cy="2387894"/>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6"/>
          <p:cNvSpPr txBox="1"/>
          <p:nvPr>
            <p:ph type="ctrTitle"/>
          </p:nvPr>
        </p:nvSpPr>
        <p:spPr>
          <a:xfrm>
            <a:off x="1597800" y="441187"/>
            <a:ext cx="5933400" cy="42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sz="3100">
                <a:highlight>
                  <a:srgbClr val="FFFFFF"/>
                </a:highlight>
              </a:rPr>
              <a:t>Proposed Approach</a:t>
            </a:r>
            <a:endParaRPr sz="3100"/>
          </a:p>
        </p:txBody>
      </p:sp>
      <p:sp>
        <p:nvSpPr>
          <p:cNvPr id="199" name="Google Shape;199;p36"/>
          <p:cNvSpPr txBox="1"/>
          <p:nvPr/>
        </p:nvSpPr>
        <p:spPr>
          <a:xfrm>
            <a:off x="728700" y="1234275"/>
            <a:ext cx="7686600" cy="1026916"/>
          </a:xfrm>
          <a:prstGeom prst="rect">
            <a:avLst/>
          </a:prstGeom>
          <a:noFill/>
          <a:ln>
            <a:noFill/>
          </a:ln>
        </p:spPr>
        <p:txBody>
          <a:bodyPr anchorCtr="0" anchor="t" bIns="91425" lIns="91425" spcFirstLastPara="1" rIns="91425" wrap="square" tIns="91425">
            <a:normAutofit/>
          </a:bodyPr>
          <a:lstStyle/>
          <a:p>
            <a:pPr indent="-311150" lvl="0" marL="4572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Deep Knowledge-aware Network</a:t>
            </a:r>
            <a:endParaRPr/>
          </a:p>
          <a:p>
            <a:pPr indent="-311150" lvl="2" marL="9144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Knowledge-aware CNN</a:t>
            </a:r>
            <a:endParaRPr b="0" i="0" sz="1400" u="none" cap="none" strike="noStrike">
              <a:solidFill>
                <a:schemeClr val="dk2"/>
              </a:solidFill>
              <a:latin typeface="Merriweather"/>
              <a:ea typeface="Merriweather"/>
              <a:cs typeface="Merriweather"/>
              <a:sym typeface="Merriweather"/>
            </a:endParaRPr>
          </a:p>
        </p:txBody>
      </p:sp>
      <p:pic>
        <p:nvPicPr>
          <p:cNvPr id="200" name="Google Shape;200;p36"/>
          <p:cNvPicPr preferRelativeResize="0"/>
          <p:nvPr/>
        </p:nvPicPr>
        <p:blipFill rotWithShape="1">
          <a:blip r:embed="rId3">
            <a:alphaModFix/>
          </a:blip>
          <a:srcRect b="0" l="0" r="0" t="0"/>
          <a:stretch/>
        </p:blipFill>
        <p:spPr>
          <a:xfrm>
            <a:off x="4420592" y="1420004"/>
            <a:ext cx="3994708" cy="3282309"/>
          </a:xfrm>
          <a:prstGeom prst="rect">
            <a:avLst/>
          </a:prstGeom>
          <a:noFill/>
          <a:ln>
            <a:noFill/>
          </a:ln>
        </p:spPr>
      </p:pic>
      <p:pic>
        <p:nvPicPr>
          <p:cNvPr id="201" name="Google Shape;201;p36"/>
          <p:cNvPicPr preferRelativeResize="0"/>
          <p:nvPr/>
        </p:nvPicPr>
        <p:blipFill rotWithShape="1">
          <a:blip r:embed="rId4">
            <a:alphaModFix/>
          </a:blip>
          <a:srcRect b="0" l="0" r="0" t="0"/>
          <a:stretch/>
        </p:blipFill>
        <p:spPr>
          <a:xfrm>
            <a:off x="1364845" y="2631579"/>
            <a:ext cx="2715506" cy="349071"/>
          </a:xfrm>
          <a:prstGeom prst="rect">
            <a:avLst/>
          </a:prstGeom>
          <a:noFill/>
          <a:ln>
            <a:noFill/>
          </a:ln>
        </p:spPr>
      </p:pic>
      <p:pic>
        <p:nvPicPr>
          <p:cNvPr id="202" name="Google Shape;202;p36"/>
          <p:cNvPicPr preferRelativeResize="0"/>
          <p:nvPr/>
        </p:nvPicPr>
        <p:blipFill rotWithShape="1">
          <a:blip r:embed="rId5">
            <a:alphaModFix/>
          </a:blip>
          <a:srcRect b="0" l="0" r="0" t="0"/>
          <a:stretch/>
        </p:blipFill>
        <p:spPr>
          <a:xfrm>
            <a:off x="1478259" y="3001967"/>
            <a:ext cx="1768022" cy="34907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7"/>
          <p:cNvSpPr txBox="1"/>
          <p:nvPr>
            <p:ph type="ctrTitle"/>
          </p:nvPr>
        </p:nvSpPr>
        <p:spPr>
          <a:xfrm>
            <a:off x="1597800" y="441187"/>
            <a:ext cx="5933400" cy="42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sz="3100">
                <a:highlight>
                  <a:srgbClr val="FFFFFF"/>
                </a:highlight>
              </a:rPr>
              <a:t>Proposed Approach</a:t>
            </a:r>
            <a:endParaRPr sz="3100"/>
          </a:p>
        </p:txBody>
      </p:sp>
      <p:sp>
        <p:nvSpPr>
          <p:cNvPr id="208" name="Google Shape;208;p37"/>
          <p:cNvSpPr txBox="1"/>
          <p:nvPr/>
        </p:nvSpPr>
        <p:spPr>
          <a:xfrm>
            <a:off x="728700" y="1234275"/>
            <a:ext cx="7686600" cy="1026916"/>
          </a:xfrm>
          <a:prstGeom prst="rect">
            <a:avLst/>
          </a:prstGeom>
          <a:noFill/>
          <a:ln>
            <a:noFill/>
          </a:ln>
        </p:spPr>
        <p:txBody>
          <a:bodyPr anchorCtr="0" anchor="t" bIns="91425" lIns="91425" spcFirstLastPara="1" rIns="91425" wrap="square" tIns="91425">
            <a:normAutofit/>
          </a:bodyPr>
          <a:lstStyle/>
          <a:p>
            <a:pPr indent="-311150" lvl="0" marL="4572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Deep Knowledge-aware Network</a:t>
            </a:r>
            <a:endParaRPr/>
          </a:p>
        </p:txBody>
      </p:sp>
      <p:pic>
        <p:nvPicPr>
          <p:cNvPr id="209" name="Google Shape;209;p37"/>
          <p:cNvPicPr preferRelativeResize="0"/>
          <p:nvPr/>
        </p:nvPicPr>
        <p:blipFill rotWithShape="1">
          <a:blip r:embed="rId3">
            <a:alphaModFix/>
          </a:blip>
          <a:srcRect b="0" l="0" r="0" t="0"/>
          <a:stretch/>
        </p:blipFill>
        <p:spPr>
          <a:xfrm>
            <a:off x="1250880" y="1031494"/>
            <a:ext cx="6642240" cy="411200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ctrTitle"/>
          </p:nvPr>
        </p:nvSpPr>
        <p:spPr>
          <a:xfrm>
            <a:off x="1597800" y="441187"/>
            <a:ext cx="5933400" cy="42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sz="3100">
                <a:highlight>
                  <a:srgbClr val="FFFFFF"/>
                </a:highlight>
              </a:rPr>
              <a:t>Proposed Approach</a:t>
            </a:r>
            <a:endParaRPr sz="3100"/>
          </a:p>
        </p:txBody>
      </p:sp>
      <p:sp>
        <p:nvSpPr>
          <p:cNvPr id="215" name="Google Shape;215;p38"/>
          <p:cNvSpPr txBox="1"/>
          <p:nvPr/>
        </p:nvSpPr>
        <p:spPr>
          <a:xfrm>
            <a:off x="728700" y="1234275"/>
            <a:ext cx="7686600" cy="1026916"/>
          </a:xfrm>
          <a:prstGeom prst="rect">
            <a:avLst/>
          </a:prstGeom>
          <a:noFill/>
          <a:ln>
            <a:noFill/>
          </a:ln>
        </p:spPr>
        <p:txBody>
          <a:bodyPr anchorCtr="0" anchor="t" bIns="91425" lIns="91425" spcFirstLastPara="1" rIns="91425" wrap="square" tIns="91425">
            <a:normAutofit/>
          </a:bodyPr>
          <a:lstStyle/>
          <a:p>
            <a:pPr indent="-311150" lvl="0" marL="457200" marR="0" rtl="0" algn="l">
              <a:lnSpc>
                <a:spcPct val="150000"/>
              </a:lnSpc>
              <a:spcBef>
                <a:spcPts val="0"/>
              </a:spcBef>
              <a:spcAft>
                <a:spcPts val="0"/>
              </a:spcAft>
              <a:buClr>
                <a:schemeClr val="dk2"/>
              </a:buClr>
              <a:buSzPts val="1300"/>
              <a:buFont typeface="Roboto"/>
              <a:buChar char="➔"/>
            </a:pPr>
            <a:r>
              <a:rPr b="0" i="0" lang="en" sz="1400" u="none" cap="none" strike="noStrike">
                <a:solidFill>
                  <a:schemeClr val="dk2"/>
                </a:solidFill>
                <a:latin typeface="Merriweather"/>
                <a:ea typeface="Merriweather"/>
                <a:cs typeface="Merriweather"/>
                <a:sym typeface="Merriweather"/>
              </a:rPr>
              <a:t>Gated Recurrent Unit (GRU)</a:t>
            </a:r>
            <a:endParaRPr/>
          </a:p>
        </p:txBody>
      </p:sp>
      <p:grpSp>
        <p:nvGrpSpPr>
          <p:cNvPr id="216" name="Google Shape;216;p38"/>
          <p:cNvGrpSpPr/>
          <p:nvPr/>
        </p:nvGrpSpPr>
        <p:grpSpPr>
          <a:xfrm>
            <a:off x="871870" y="2261191"/>
            <a:ext cx="7543430" cy="1948304"/>
            <a:chOff x="2295683" y="2879700"/>
            <a:chExt cx="10273220" cy="2653350"/>
          </a:xfrm>
        </p:grpSpPr>
        <p:grpSp>
          <p:nvGrpSpPr>
            <p:cNvPr id="217" name="Google Shape;217;p38"/>
            <p:cNvGrpSpPr/>
            <p:nvPr/>
          </p:nvGrpSpPr>
          <p:grpSpPr>
            <a:xfrm>
              <a:off x="2295683" y="2879700"/>
              <a:ext cx="7597983" cy="2653350"/>
              <a:chOff x="2584864" y="3001310"/>
              <a:chExt cx="7597983" cy="2653350"/>
            </a:xfrm>
          </p:grpSpPr>
          <p:pic>
            <p:nvPicPr>
              <p:cNvPr id="218" name="Google Shape;218;p38"/>
              <p:cNvPicPr preferRelativeResize="0"/>
              <p:nvPr/>
            </p:nvPicPr>
            <p:blipFill rotWithShape="1">
              <a:blip r:embed="rId3">
                <a:alphaModFix/>
              </a:blip>
              <a:srcRect b="0" l="0" r="0" t="0"/>
              <a:stretch/>
            </p:blipFill>
            <p:spPr>
              <a:xfrm>
                <a:off x="6382372" y="3429000"/>
                <a:ext cx="3800475" cy="1885950"/>
              </a:xfrm>
              <a:prstGeom prst="rect">
                <a:avLst/>
              </a:prstGeom>
              <a:noFill/>
              <a:ln>
                <a:noFill/>
              </a:ln>
            </p:spPr>
          </p:pic>
          <p:pic>
            <p:nvPicPr>
              <p:cNvPr id="219" name="Google Shape;219;p38"/>
              <p:cNvPicPr preferRelativeResize="0"/>
              <p:nvPr/>
            </p:nvPicPr>
            <p:blipFill rotWithShape="1">
              <a:blip r:embed="rId4">
                <a:alphaModFix/>
              </a:blip>
              <a:srcRect b="0" l="0" r="0" t="0"/>
              <a:stretch/>
            </p:blipFill>
            <p:spPr>
              <a:xfrm>
                <a:off x="2584864" y="3001310"/>
                <a:ext cx="3800475" cy="2653350"/>
              </a:xfrm>
              <a:prstGeom prst="rect">
                <a:avLst/>
              </a:prstGeom>
              <a:noFill/>
              <a:ln>
                <a:noFill/>
              </a:ln>
            </p:spPr>
          </p:pic>
        </p:grpSp>
        <p:sp>
          <p:nvSpPr>
            <p:cNvPr id="220" name="Google Shape;220;p38"/>
            <p:cNvSpPr txBox="1"/>
            <p:nvPr/>
          </p:nvSpPr>
          <p:spPr>
            <a:xfrm>
              <a:off x="8702152" y="3274234"/>
              <a:ext cx="2567918" cy="88720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 sz="1400" u="none" cap="none" strike="noStrike">
                  <a:solidFill>
                    <a:schemeClr val="dk1"/>
                  </a:solidFill>
                  <a:latin typeface="Georgia"/>
                  <a:ea typeface="Georgia"/>
                  <a:cs typeface="Georgia"/>
                  <a:sym typeface="Georgia"/>
                </a:rPr>
                <a:t>←Reset gate</a:t>
              </a:r>
              <a:endParaRPr/>
            </a:p>
            <a:p>
              <a:pPr indent="0" lvl="0" marL="0" marR="0" rtl="0" algn="just">
                <a:lnSpc>
                  <a:spcPct val="100000"/>
                </a:lnSpc>
                <a:spcBef>
                  <a:spcPts val="1000"/>
                </a:spcBef>
                <a:spcAft>
                  <a:spcPts val="0"/>
                </a:spcAft>
                <a:buNone/>
              </a:pPr>
              <a:r>
                <a:rPr b="0" i="0" lang="en" sz="1400" u="none" cap="none" strike="noStrike">
                  <a:solidFill>
                    <a:schemeClr val="dk1"/>
                  </a:solidFill>
                  <a:latin typeface="Georgia"/>
                  <a:ea typeface="Georgia"/>
                  <a:cs typeface="Georgia"/>
                  <a:sym typeface="Georgia"/>
                </a:rPr>
                <a:t>← Update gate</a:t>
              </a:r>
              <a:endParaRPr b="0" i="0" sz="1400" u="none" cap="none" strike="noStrike">
                <a:solidFill>
                  <a:schemeClr val="dk1"/>
                </a:solidFill>
                <a:latin typeface="Georgia"/>
                <a:ea typeface="Georgia"/>
                <a:cs typeface="Georgia"/>
                <a:sym typeface="Georgia"/>
              </a:endParaRPr>
            </a:p>
          </p:txBody>
        </p:sp>
        <p:sp>
          <p:nvSpPr>
            <p:cNvPr id="221" name="Google Shape;221;p38"/>
            <p:cNvSpPr txBox="1"/>
            <p:nvPr/>
          </p:nvSpPr>
          <p:spPr>
            <a:xfrm>
              <a:off x="9686929" y="4233471"/>
              <a:ext cx="2881974" cy="88720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 sz="1400" u="none" cap="none" strike="noStrike">
                  <a:solidFill>
                    <a:schemeClr val="dk1"/>
                  </a:solidFill>
                  <a:latin typeface="Georgia"/>
                  <a:ea typeface="Georgia"/>
                  <a:cs typeface="Georgia"/>
                  <a:sym typeface="Georgia"/>
                </a:rPr>
                <a:t>← Candidate Activation</a:t>
              </a:r>
              <a:endParaRPr/>
            </a:p>
            <a:p>
              <a:pPr indent="0" lvl="0" marL="0" marR="0" rtl="0" algn="just">
                <a:lnSpc>
                  <a:spcPct val="100000"/>
                </a:lnSpc>
                <a:spcBef>
                  <a:spcPts val="1000"/>
                </a:spcBef>
                <a:spcAft>
                  <a:spcPts val="0"/>
                </a:spcAft>
                <a:buNone/>
              </a:pPr>
              <a:r>
                <a:rPr b="0" i="0" lang="en" sz="1400" u="none" cap="none" strike="noStrike">
                  <a:solidFill>
                    <a:schemeClr val="dk1"/>
                  </a:solidFill>
                  <a:latin typeface="Georgia"/>
                  <a:ea typeface="Georgia"/>
                  <a:cs typeface="Georgia"/>
                  <a:sym typeface="Georgia"/>
                </a:rPr>
                <a:t>← Final Hidden State</a:t>
              </a:r>
              <a:endParaRPr b="0" i="0" sz="1400" u="none" cap="none" strike="noStrike">
                <a:solidFill>
                  <a:schemeClr val="dk1"/>
                </a:solidFill>
                <a:latin typeface="Georgia"/>
                <a:ea typeface="Georgia"/>
                <a:cs typeface="Georgia"/>
                <a:sym typeface="Georgia"/>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9"/>
          <p:cNvSpPr txBox="1"/>
          <p:nvPr>
            <p:ph type="ctrTitle"/>
          </p:nvPr>
        </p:nvSpPr>
        <p:spPr>
          <a:xfrm>
            <a:off x="1597800" y="441187"/>
            <a:ext cx="5933400" cy="42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sz="3100">
                <a:highlight>
                  <a:srgbClr val="FFFFFF"/>
                </a:highlight>
              </a:rPr>
              <a:t>Proposed Approach</a:t>
            </a:r>
            <a:endParaRPr sz="3100"/>
          </a:p>
        </p:txBody>
      </p:sp>
      <p:pic>
        <p:nvPicPr>
          <p:cNvPr id="227" name="Google Shape;227;p39"/>
          <p:cNvPicPr preferRelativeResize="0"/>
          <p:nvPr/>
        </p:nvPicPr>
        <p:blipFill rotWithShape="1">
          <a:blip r:embed="rId3">
            <a:alphaModFix/>
          </a:blip>
          <a:srcRect b="2069" l="2470" r="3505" t="4897"/>
          <a:stretch/>
        </p:blipFill>
        <p:spPr>
          <a:xfrm>
            <a:off x="2941320" y="1386841"/>
            <a:ext cx="3225800" cy="3540760"/>
          </a:xfrm>
          <a:prstGeom prst="rect">
            <a:avLst/>
          </a:prstGeom>
          <a:noFill/>
          <a:ln>
            <a:noFill/>
          </a:ln>
        </p:spPr>
      </p:pic>
      <p:sp>
        <p:nvSpPr>
          <p:cNvPr id="228" name="Google Shape;228;p39"/>
          <p:cNvSpPr/>
          <p:nvPr/>
        </p:nvSpPr>
        <p:spPr>
          <a:xfrm>
            <a:off x="4638040" y="3197860"/>
            <a:ext cx="474980" cy="104140"/>
          </a:xfrm>
          <a:prstGeom prst="roundRect">
            <a:avLst>
              <a:gd fmla="val 16667" name="adj"/>
            </a:avLst>
          </a:prstGeom>
          <a:solidFill>
            <a:schemeClr val="accen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000" u="none" cap="none" strike="noStrike">
                <a:solidFill>
                  <a:schemeClr val="lt1"/>
                </a:solidFill>
                <a:latin typeface="MS PGothic"/>
                <a:ea typeface="MS PGothic"/>
                <a:cs typeface="MS PGothic"/>
                <a:sym typeface="MS PGothic"/>
              </a:rPr>
              <a:t>GRU</a:t>
            </a:r>
            <a:endParaRPr b="0" i="0" sz="1000" u="none" cap="none" strike="noStrike">
              <a:solidFill>
                <a:schemeClr val="lt1"/>
              </a:solidFill>
              <a:latin typeface="MS PGothic"/>
              <a:ea typeface="MS PGothic"/>
              <a:cs typeface="MS PGothic"/>
              <a:sym typeface="MS PGothic"/>
            </a:endParaRPr>
          </a:p>
        </p:txBody>
      </p:sp>
      <p:sp>
        <p:nvSpPr>
          <p:cNvPr id="229" name="Google Shape;229;p39"/>
          <p:cNvSpPr/>
          <p:nvPr/>
        </p:nvSpPr>
        <p:spPr>
          <a:xfrm>
            <a:off x="5232400" y="3197860"/>
            <a:ext cx="474980" cy="104140"/>
          </a:xfrm>
          <a:prstGeom prst="roundRect">
            <a:avLst>
              <a:gd fmla="val 16667" name="adj"/>
            </a:avLst>
          </a:prstGeom>
          <a:solidFill>
            <a:schemeClr val="accen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000" u="none" cap="none" strike="noStrike">
                <a:solidFill>
                  <a:schemeClr val="lt1"/>
                </a:solidFill>
                <a:latin typeface="MS PGothic"/>
                <a:ea typeface="MS PGothic"/>
                <a:cs typeface="MS PGothic"/>
                <a:sym typeface="MS PGothic"/>
              </a:rPr>
              <a:t>GRU</a:t>
            </a:r>
            <a:endParaRPr b="0" i="0" sz="1000" u="none" cap="none" strike="noStrike">
              <a:solidFill>
                <a:schemeClr val="lt1"/>
              </a:solidFill>
              <a:latin typeface="MS PGothic"/>
              <a:ea typeface="MS PGothic"/>
              <a:cs typeface="MS PGothic"/>
              <a:sym typeface="MS PGothic"/>
            </a:endParaRPr>
          </a:p>
        </p:txBody>
      </p:sp>
      <p:sp>
        <p:nvSpPr>
          <p:cNvPr id="230" name="Google Shape;230;p39"/>
          <p:cNvSpPr/>
          <p:nvPr/>
        </p:nvSpPr>
        <p:spPr>
          <a:xfrm>
            <a:off x="5890727" y="3197860"/>
            <a:ext cx="474980" cy="104140"/>
          </a:xfrm>
          <a:prstGeom prst="roundRect">
            <a:avLst>
              <a:gd fmla="val 16667" name="adj"/>
            </a:avLst>
          </a:prstGeom>
          <a:solidFill>
            <a:schemeClr val="accen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000" u="none" cap="none" strike="noStrike">
                <a:solidFill>
                  <a:schemeClr val="lt1"/>
                </a:solidFill>
                <a:latin typeface="MS PGothic"/>
                <a:ea typeface="MS PGothic"/>
                <a:cs typeface="MS PGothic"/>
                <a:sym typeface="MS PGothic"/>
              </a:rPr>
              <a:t>GRU</a:t>
            </a:r>
            <a:endParaRPr b="0" i="0" sz="1000" u="none" cap="none" strike="noStrike">
              <a:solidFill>
                <a:schemeClr val="lt1"/>
              </a:solidFill>
              <a:latin typeface="MS PGothic"/>
              <a:ea typeface="MS PGothic"/>
              <a:cs typeface="MS PGothic"/>
              <a:sym typeface="MS PGothic"/>
            </a:endParaRPr>
          </a:p>
        </p:txBody>
      </p:sp>
      <p:cxnSp>
        <p:nvCxnSpPr>
          <p:cNvPr id="231" name="Google Shape;231;p39"/>
          <p:cNvCxnSpPr>
            <a:endCxn id="228" idx="2"/>
          </p:cNvCxnSpPr>
          <p:nvPr/>
        </p:nvCxnSpPr>
        <p:spPr>
          <a:xfrm flipH="1" rot="10800000">
            <a:off x="4429730" y="3302000"/>
            <a:ext cx="445800" cy="185400"/>
          </a:xfrm>
          <a:prstGeom prst="curvedConnector2">
            <a:avLst/>
          </a:prstGeom>
          <a:noFill/>
          <a:ln cap="flat" cmpd="sng" w="9525">
            <a:solidFill>
              <a:srgbClr val="3B7FF2"/>
            </a:solidFill>
            <a:prstDash val="dot"/>
            <a:round/>
            <a:headEnd len="sm" w="sm" type="none"/>
            <a:tailEnd len="sm" w="sm" type="triangle"/>
          </a:ln>
        </p:spPr>
      </p:cxnSp>
      <p:cxnSp>
        <p:nvCxnSpPr>
          <p:cNvPr id="232" name="Google Shape;232;p39"/>
          <p:cNvCxnSpPr>
            <a:endCxn id="229" idx="2"/>
          </p:cNvCxnSpPr>
          <p:nvPr/>
        </p:nvCxnSpPr>
        <p:spPr>
          <a:xfrm flipH="1" rot="10800000">
            <a:off x="5168390" y="3302000"/>
            <a:ext cx="301500" cy="185400"/>
          </a:xfrm>
          <a:prstGeom prst="curvedConnector2">
            <a:avLst/>
          </a:prstGeom>
          <a:noFill/>
          <a:ln cap="flat" cmpd="sng" w="9525">
            <a:solidFill>
              <a:srgbClr val="3B7FF2"/>
            </a:solidFill>
            <a:prstDash val="dot"/>
            <a:round/>
            <a:headEnd len="sm" w="sm" type="none"/>
            <a:tailEnd len="sm" w="sm" type="triangle"/>
          </a:ln>
        </p:spPr>
      </p:cxnSp>
      <p:cxnSp>
        <p:nvCxnSpPr>
          <p:cNvPr id="233" name="Google Shape;233;p39"/>
          <p:cNvCxnSpPr>
            <a:endCxn id="230" idx="2"/>
          </p:cNvCxnSpPr>
          <p:nvPr/>
        </p:nvCxnSpPr>
        <p:spPr>
          <a:xfrm flipH="1" rot="10800000">
            <a:off x="5890617" y="3302000"/>
            <a:ext cx="237600" cy="185400"/>
          </a:xfrm>
          <a:prstGeom prst="curvedConnector2">
            <a:avLst/>
          </a:prstGeom>
          <a:noFill/>
          <a:ln cap="flat" cmpd="sng" w="9525">
            <a:solidFill>
              <a:srgbClr val="3B7FF2"/>
            </a:solidFill>
            <a:prstDash val="dot"/>
            <a:round/>
            <a:headEnd len="sm" w="sm" type="none"/>
            <a:tailEnd len="sm" w="sm" type="triangle"/>
          </a:ln>
        </p:spPr>
      </p:cxnSp>
      <p:cxnSp>
        <p:nvCxnSpPr>
          <p:cNvPr id="234" name="Google Shape;234;p39"/>
          <p:cNvCxnSpPr>
            <a:stCxn id="228" idx="3"/>
            <a:endCxn id="229" idx="1"/>
          </p:cNvCxnSpPr>
          <p:nvPr/>
        </p:nvCxnSpPr>
        <p:spPr>
          <a:xfrm>
            <a:off x="5113020" y="3249930"/>
            <a:ext cx="119400" cy="0"/>
          </a:xfrm>
          <a:prstGeom prst="straightConnector1">
            <a:avLst/>
          </a:prstGeom>
          <a:noFill/>
          <a:ln cap="flat" cmpd="sng" w="9525">
            <a:solidFill>
              <a:srgbClr val="3B7FF2"/>
            </a:solidFill>
            <a:prstDash val="dot"/>
            <a:round/>
            <a:headEnd len="sm" w="sm" type="none"/>
            <a:tailEnd len="sm" w="sm" type="triangle"/>
          </a:ln>
        </p:spPr>
      </p:cxnSp>
      <p:sp>
        <p:nvSpPr>
          <p:cNvPr id="235" name="Google Shape;235;p39"/>
          <p:cNvSpPr txBox="1"/>
          <p:nvPr/>
        </p:nvSpPr>
        <p:spPr>
          <a:xfrm>
            <a:off x="5616953" y="3043971"/>
            <a:ext cx="3642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chemeClr val="accent1"/>
                </a:solidFill>
                <a:latin typeface="Arial"/>
                <a:ea typeface="Arial"/>
                <a:cs typeface="Arial"/>
                <a:sym typeface="Arial"/>
              </a:rPr>
              <a:t>…</a:t>
            </a:r>
            <a:endParaRPr b="0" i="0" sz="1400" u="none" cap="none" strike="noStrike">
              <a:solidFill>
                <a:schemeClr val="accent1"/>
              </a:solidFill>
              <a:latin typeface="Arial"/>
              <a:ea typeface="Arial"/>
              <a:cs typeface="Arial"/>
              <a:sym typeface="Arial"/>
            </a:endParaRPr>
          </a:p>
        </p:txBody>
      </p:sp>
      <p:sp>
        <p:nvSpPr>
          <p:cNvPr id="236" name="Google Shape;236;p39"/>
          <p:cNvSpPr/>
          <p:nvPr/>
        </p:nvSpPr>
        <p:spPr>
          <a:xfrm>
            <a:off x="4801235" y="2094739"/>
            <a:ext cx="90806" cy="104140"/>
          </a:xfrm>
          <a:prstGeom prst="rect">
            <a:avLst/>
          </a:prstGeom>
          <a:solidFill>
            <a:schemeClr val="accen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7" name="Google Shape;237;p39"/>
          <p:cNvSpPr/>
          <p:nvPr/>
        </p:nvSpPr>
        <p:spPr>
          <a:xfrm>
            <a:off x="4892041" y="2094739"/>
            <a:ext cx="90806" cy="104140"/>
          </a:xfrm>
          <a:prstGeom prst="rect">
            <a:avLst/>
          </a:prstGeom>
          <a:solidFill>
            <a:schemeClr val="accen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8" name="Google Shape;238;p39"/>
          <p:cNvSpPr/>
          <p:nvPr/>
        </p:nvSpPr>
        <p:spPr>
          <a:xfrm>
            <a:off x="4982847" y="2094739"/>
            <a:ext cx="90806" cy="104140"/>
          </a:xfrm>
          <a:prstGeom prst="rect">
            <a:avLst/>
          </a:prstGeom>
          <a:solidFill>
            <a:schemeClr val="accen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9" name="Google Shape;239;p39"/>
          <p:cNvSpPr/>
          <p:nvPr/>
        </p:nvSpPr>
        <p:spPr>
          <a:xfrm>
            <a:off x="5073653" y="2094739"/>
            <a:ext cx="90806" cy="104140"/>
          </a:xfrm>
          <a:prstGeom prst="rect">
            <a:avLst/>
          </a:prstGeom>
          <a:solidFill>
            <a:schemeClr val="accen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240" name="Google Shape;240;p39"/>
          <p:cNvCxnSpPr>
            <a:stCxn id="230" idx="0"/>
            <a:endCxn id="239" idx="3"/>
          </p:cNvCxnSpPr>
          <p:nvPr/>
        </p:nvCxnSpPr>
        <p:spPr>
          <a:xfrm flipH="1" rot="5400000">
            <a:off x="5120667" y="2190310"/>
            <a:ext cx="1051200" cy="963900"/>
          </a:xfrm>
          <a:prstGeom prst="curvedConnector2">
            <a:avLst/>
          </a:prstGeom>
          <a:noFill/>
          <a:ln cap="flat" cmpd="sng" w="9525">
            <a:solidFill>
              <a:srgbClr val="3B7FF2"/>
            </a:solidFill>
            <a:prstDash val="dot"/>
            <a:round/>
            <a:headEnd len="sm" w="sm" type="none"/>
            <a:tailEnd len="sm" w="sm"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type="ctrTitle"/>
          </p:nvPr>
        </p:nvSpPr>
        <p:spPr>
          <a:xfrm>
            <a:off x="1597800" y="441187"/>
            <a:ext cx="5933400" cy="42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sz="3100">
                <a:highlight>
                  <a:srgbClr val="FFFFFF"/>
                </a:highlight>
              </a:rPr>
              <a:t>Data Description</a:t>
            </a:r>
            <a:endParaRPr sz="3100"/>
          </a:p>
        </p:txBody>
      </p:sp>
      <p:sp>
        <p:nvSpPr>
          <p:cNvPr id="246" name="Google Shape;246;p40"/>
          <p:cNvSpPr txBox="1"/>
          <p:nvPr/>
        </p:nvSpPr>
        <p:spPr>
          <a:xfrm>
            <a:off x="728700" y="1234275"/>
            <a:ext cx="7686600" cy="3468038"/>
          </a:xfrm>
          <a:prstGeom prst="rect">
            <a:avLst/>
          </a:prstGeom>
          <a:noFill/>
          <a:ln>
            <a:noFill/>
          </a:ln>
        </p:spPr>
        <p:txBody>
          <a:bodyPr anchorCtr="0" anchor="t" bIns="91425" lIns="91425" spcFirstLastPara="1" rIns="91425" wrap="square" tIns="91425">
            <a:normAutofit/>
          </a:bodyPr>
          <a:lstStyle/>
          <a:p>
            <a:pPr indent="-311150" lvl="0" marL="457200" marR="0" rtl="0" algn="l">
              <a:lnSpc>
                <a:spcPct val="150000"/>
              </a:lnSpc>
              <a:spcBef>
                <a:spcPts val="0"/>
              </a:spcBef>
              <a:spcAft>
                <a:spcPts val="0"/>
              </a:spcAft>
              <a:buClr>
                <a:schemeClr val="dk2"/>
              </a:buClr>
              <a:buSzPts val="1300"/>
              <a:buFont typeface="Merriweather"/>
              <a:buChar char="➔"/>
            </a:pPr>
            <a:r>
              <a:rPr i="0" lang="en" sz="1300" u="none" cap="none" strike="noStrike">
                <a:solidFill>
                  <a:schemeClr val="dk2"/>
                </a:solidFill>
                <a:latin typeface="Merriweather"/>
                <a:ea typeface="Merriweather"/>
                <a:cs typeface="Merriweather"/>
                <a:sym typeface="Merriweather"/>
              </a:rPr>
              <a:t>Microsoft News Dataset (MIND)</a:t>
            </a:r>
            <a:endParaRPr sz="1300">
              <a:solidFill>
                <a:schemeClr val="dk2"/>
              </a:solidFill>
              <a:latin typeface="Merriweather"/>
              <a:ea typeface="Merriweather"/>
              <a:cs typeface="Merriweather"/>
              <a:sym typeface="Merriweather"/>
            </a:endParaRPr>
          </a:p>
          <a:p>
            <a:pPr indent="-311150" lvl="1" marL="914400" marR="0" rtl="0" algn="l">
              <a:lnSpc>
                <a:spcPct val="150000"/>
              </a:lnSpc>
              <a:spcBef>
                <a:spcPts val="0"/>
              </a:spcBef>
              <a:spcAft>
                <a:spcPts val="0"/>
              </a:spcAft>
              <a:buClr>
                <a:schemeClr val="dk2"/>
              </a:buClr>
              <a:buSzPts val="1300"/>
              <a:buFont typeface="Merriweather"/>
              <a:buChar char="➔"/>
            </a:pPr>
            <a:r>
              <a:rPr i="0" lang="en" sz="1300" u="none" cap="none" strike="noStrike">
                <a:solidFill>
                  <a:schemeClr val="dk2"/>
                </a:solidFill>
                <a:latin typeface="Merriweather"/>
                <a:ea typeface="Merriweather"/>
                <a:cs typeface="Merriweather"/>
                <a:sym typeface="Merriweather"/>
              </a:rPr>
              <a:t>Source: Anonymized logs from Microsoft News.</a:t>
            </a:r>
            <a:endParaRPr sz="1300">
              <a:solidFill>
                <a:schemeClr val="dk2"/>
              </a:solidFill>
              <a:latin typeface="Merriweather"/>
              <a:ea typeface="Merriweather"/>
              <a:cs typeface="Merriweather"/>
              <a:sym typeface="Merriweather"/>
            </a:endParaRPr>
          </a:p>
          <a:p>
            <a:pPr indent="-311150" lvl="1" marL="914400" marR="0" rtl="0" algn="l">
              <a:lnSpc>
                <a:spcPct val="150000"/>
              </a:lnSpc>
              <a:spcBef>
                <a:spcPts val="0"/>
              </a:spcBef>
              <a:spcAft>
                <a:spcPts val="0"/>
              </a:spcAft>
              <a:buClr>
                <a:schemeClr val="dk2"/>
              </a:buClr>
              <a:buSzPts val="1300"/>
              <a:buFont typeface="Merriweather"/>
              <a:buChar char="➔"/>
            </a:pPr>
            <a:r>
              <a:rPr i="0" lang="en" sz="1300" u="none" cap="none" strike="noStrike">
                <a:solidFill>
                  <a:schemeClr val="dk2"/>
                </a:solidFill>
                <a:latin typeface="Merriweather"/>
                <a:ea typeface="Merriweather"/>
                <a:cs typeface="Merriweather"/>
                <a:sym typeface="Merriweather"/>
              </a:rPr>
              <a:t>Articles: ~160k English news articles.</a:t>
            </a:r>
            <a:endParaRPr i="0" sz="1300" u="none" cap="none" strike="noStrike">
              <a:solidFill>
                <a:schemeClr val="dk2"/>
              </a:solidFill>
              <a:latin typeface="Merriweather"/>
              <a:ea typeface="Merriweather"/>
              <a:cs typeface="Merriweather"/>
              <a:sym typeface="Merriweather"/>
            </a:endParaRPr>
          </a:p>
        </p:txBody>
      </p:sp>
      <p:pic>
        <p:nvPicPr>
          <p:cNvPr id="247" name="Google Shape;247;p40"/>
          <p:cNvPicPr preferRelativeResize="0"/>
          <p:nvPr/>
        </p:nvPicPr>
        <p:blipFill rotWithShape="1">
          <a:blip r:embed="rId3">
            <a:alphaModFix/>
          </a:blip>
          <a:srcRect b="0" l="0" r="0" t="0"/>
          <a:stretch/>
        </p:blipFill>
        <p:spPr>
          <a:xfrm>
            <a:off x="873760" y="2264415"/>
            <a:ext cx="7396666" cy="275433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1"/>
          <p:cNvSpPr txBox="1"/>
          <p:nvPr>
            <p:ph type="ctrTitle"/>
          </p:nvPr>
        </p:nvSpPr>
        <p:spPr>
          <a:xfrm>
            <a:off x="1597800" y="441187"/>
            <a:ext cx="5933400" cy="42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sz="3100">
                <a:highlight>
                  <a:srgbClr val="FFFFFF"/>
                </a:highlight>
              </a:rPr>
              <a:t>Data Description</a:t>
            </a:r>
            <a:endParaRPr sz="3100"/>
          </a:p>
        </p:txBody>
      </p:sp>
      <p:sp>
        <p:nvSpPr>
          <p:cNvPr id="253" name="Google Shape;253;p41"/>
          <p:cNvSpPr txBox="1"/>
          <p:nvPr/>
        </p:nvSpPr>
        <p:spPr>
          <a:xfrm>
            <a:off x="728700" y="1234275"/>
            <a:ext cx="7686600" cy="3468038"/>
          </a:xfrm>
          <a:prstGeom prst="rect">
            <a:avLst/>
          </a:prstGeom>
          <a:noFill/>
          <a:ln>
            <a:noFill/>
          </a:ln>
        </p:spPr>
        <p:txBody>
          <a:bodyPr anchorCtr="0" anchor="t" bIns="91425" lIns="91425" spcFirstLastPara="1" rIns="91425" wrap="square" tIns="91425">
            <a:normAutofit/>
          </a:bodyPr>
          <a:lstStyle/>
          <a:p>
            <a:pPr indent="-311150" lvl="0" marL="457200" marR="0" rtl="0" algn="l">
              <a:lnSpc>
                <a:spcPct val="150000"/>
              </a:lnSpc>
              <a:spcBef>
                <a:spcPts val="0"/>
              </a:spcBef>
              <a:spcAft>
                <a:spcPts val="0"/>
              </a:spcAft>
              <a:buClr>
                <a:schemeClr val="dk2"/>
              </a:buClr>
              <a:buSzPts val="1300"/>
              <a:buFont typeface="Merriweather"/>
              <a:buChar char="➔"/>
            </a:pPr>
            <a:r>
              <a:rPr i="0" lang="en" sz="1300" u="none" cap="none" strike="noStrike">
                <a:solidFill>
                  <a:schemeClr val="dk2"/>
                </a:solidFill>
                <a:latin typeface="Merriweather"/>
                <a:ea typeface="Merriweather"/>
                <a:cs typeface="Merriweather"/>
                <a:sym typeface="Merriweather"/>
              </a:rPr>
              <a:t>Microsoft News Dataset (MIND)</a:t>
            </a:r>
            <a:endParaRPr sz="1300">
              <a:solidFill>
                <a:schemeClr val="dk2"/>
              </a:solidFill>
              <a:latin typeface="Merriweather"/>
              <a:ea typeface="Merriweather"/>
              <a:cs typeface="Merriweather"/>
              <a:sym typeface="Merriweather"/>
            </a:endParaRPr>
          </a:p>
          <a:p>
            <a:pPr indent="-311150" lvl="1" marL="914400" marR="0" rtl="0" algn="l">
              <a:lnSpc>
                <a:spcPct val="150000"/>
              </a:lnSpc>
              <a:spcBef>
                <a:spcPts val="0"/>
              </a:spcBef>
              <a:spcAft>
                <a:spcPts val="0"/>
              </a:spcAft>
              <a:buClr>
                <a:schemeClr val="dk2"/>
              </a:buClr>
              <a:buSzPts val="1300"/>
              <a:buFont typeface="Merriweather"/>
              <a:buChar char="➔"/>
            </a:pPr>
            <a:r>
              <a:rPr i="0" lang="en" sz="1300" u="none" cap="none" strike="noStrike">
                <a:solidFill>
                  <a:schemeClr val="dk2"/>
                </a:solidFill>
                <a:latin typeface="Merriweather"/>
                <a:ea typeface="Merriweather"/>
                <a:cs typeface="Merriweather"/>
                <a:sym typeface="Merriweather"/>
              </a:rPr>
              <a:t>Source: Anonymized logs from Microsoft News.</a:t>
            </a:r>
            <a:endParaRPr sz="1300">
              <a:solidFill>
                <a:schemeClr val="dk2"/>
              </a:solidFill>
              <a:latin typeface="Merriweather"/>
              <a:ea typeface="Merriweather"/>
              <a:cs typeface="Merriweather"/>
              <a:sym typeface="Merriweather"/>
            </a:endParaRPr>
          </a:p>
          <a:p>
            <a:pPr indent="-311150" lvl="1" marL="914400" marR="0" rtl="0" algn="l">
              <a:lnSpc>
                <a:spcPct val="150000"/>
              </a:lnSpc>
              <a:spcBef>
                <a:spcPts val="0"/>
              </a:spcBef>
              <a:spcAft>
                <a:spcPts val="0"/>
              </a:spcAft>
              <a:buClr>
                <a:schemeClr val="dk2"/>
              </a:buClr>
              <a:buSzPts val="1300"/>
              <a:buFont typeface="Merriweather"/>
              <a:buChar char="➔"/>
            </a:pPr>
            <a:r>
              <a:rPr i="0" lang="en" sz="1300" u="none" cap="none" strike="noStrike">
                <a:solidFill>
                  <a:schemeClr val="dk2"/>
                </a:solidFill>
                <a:latin typeface="Merriweather"/>
                <a:ea typeface="Merriweather"/>
                <a:cs typeface="Merriweather"/>
                <a:sym typeface="Merriweather"/>
              </a:rPr>
              <a:t>User Interactions: 15M+ logs from 1M users.</a:t>
            </a:r>
            <a:endParaRPr i="0" sz="1300" u="none" cap="none" strike="noStrike">
              <a:solidFill>
                <a:schemeClr val="dk2"/>
              </a:solidFill>
              <a:latin typeface="Merriweather"/>
              <a:ea typeface="Merriweather"/>
              <a:cs typeface="Merriweather"/>
              <a:sym typeface="Merriweather"/>
            </a:endParaRPr>
          </a:p>
        </p:txBody>
      </p:sp>
      <p:pic>
        <p:nvPicPr>
          <p:cNvPr id="254" name="Google Shape;254;p41"/>
          <p:cNvPicPr preferRelativeResize="0"/>
          <p:nvPr/>
        </p:nvPicPr>
        <p:blipFill rotWithShape="1">
          <a:blip r:embed="rId3">
            <a:alphaModFix/>
          </a:blip>
          <a:srcRect b="0" l="0" r="0" t="0"/>
          <a:stretch/>
        </p:blipFill>
        <p:spPr>
          <a:xfrm>
            <a:off x="873667" y="2396003"/>
            <a:ext cx="7396666" cy="230631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2"/>
          <p:cNvSpPr txBox="1"/>
          <p:nvPr>
            <p:ph type="ctrTitle"/>
          </p:nvPr>
        </p:nvSpPr>
        <p:spPr>
          <a:xfrm>
            <a:off x="1597800" y="441187"/>
            <a:ext cx="5933400" cy="42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140"/>
              <a:t>Analysis of Results</a:t>
            </a:r>
            <a:endParaRPr sz="3140"/>
          </a:p>
        </p:txBody>
      </p:sp>
      <p:sp>
        <p:nvSpPr>
          <p:cNvPr id="260" name="Google Shape;260;p42"/>
          <p:cNvSpPr txBox="1"/>
          <p:nvPr>
            <p:ph idx="1" type="subTitle"/>
          </p:nvPr>
        </p:nvSpPr>
        <p:spPr>
          <a:xfrm>
            <a:off x="678550" y="972400"/>
            <a:ext cx="7686600" cy="3446100"/>
          </a:xfrm>
          <a:prstGeom prst="rect">
            <a:avLst/>
          </a:prstGeom>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None/>
            </a:pPr>
            <a:r>
              <a:t/>
            </a:r>
            <a:endParaRPr sz="1300"/>
          </a:p>
          <a:p>
            <a:pPr indent="0" lvl="0" marL="0" rtl="0" algn="l">
              <a:lnSpc>
                <a:spcPct val="80000"/>
              </a:lnSpc>
              <a:spcBef>
                <a:spcPts val="0"/>
              </a:spcBef>
              <a:spcAft>
                <a:spcPts val="0"/>
              </a:spcAft>
              <a:buNone/>
            </a:pPr>
            <a:r>
              <a:rPr lang="en" sz="1300"/>
              <a:t>Output: rankings of click probability of news in impression</a:t>
            </a:r>
            <a:endParaRPr sz="1300"/>
          </a:p>
          <a:p>
            <a:pPr indent="0" lvl="0" marL="0" rtl="0" algn="l">
              <a:lnSpc>
                <a:spcPct val="80000"/>
              </a:lnSpc>
              <a:spcBef>
                <a:spcPts val="0"/>
              </a:spcBef>
              <a:spcAft>
                <a:spcPts val="0"/>
              </a:spcAft>
              <a:buNone/>
            </a:pPr>
            <a:r>
              <a:t/>
            </a:r>
            <a:endParaRPr sz="1300"/>
          </a:p>
          <a:p>
            <a:pPr indent="0" lvl="0" marL="0" rtl="0" algn="l">
              <a:lnSpc>
                <a:spcPct val="80000"/>
              </a:lnSpc>
              <a:spcBef>
                <a:spcPts val="0"/>
              </a:spcBef>
              <a:spcAft>
                <a:spcPts val="0"/>
              </a:spcAft>
              <a:buNone/>
            </a:pPr>
            <a:r>
              <a:t/>
            </a:r>
            <a:endParaRPr sz="1300"/>
          </a:p>
          <a:p>
            <a:pPr indent="0" lvl="0" marL="0" rtl="0" algn="l">
              <a:lnSpc>
                <a:spcPct val="80000"/>
              </a:lnSpc>
              <a:spcBef>
                <a:spcPts val="0"/>
              </a:spcBef>
              <a:spcAft>
                <a:spcPts val="0"/>
              </a:spcAft>
              <a:buNone/>
            </a:pPr>
            <a:r>
              <a:rPr lang="en" sz="1300"/>
              <a:t>Building news type distributions</a:t>
            </a:r>
            <a:endParaRPr sz="1300"/>
          </a:p>
          <a:p>
            <a:pPr indent="0" lvl="0" marL="0" rtl="0" algn="l">
              <a:lnSpc>
                <a:spcPct val="80000"/>
              </a:lnSpc>
              <a:spcBef>
                <a:spcPts val="0"/>
              </a:spcBef>
              <a:spcAft>
                <a:spcPts val="0"/>
              </a:spcAft>
              <a:buSzPts val="688"/>
              <a:buNone/>
            </a:pPr>
            <a:r>
              <a:t/>
            </a:r>
            <a:endParaRPr sz="1300"/>
          </a:p>
          <a:p>
            <a:pPr indent="-311150" lvl="0" marL="457200" rtl="0" algn="l">
              <a:lnSpc>
                <a:spcPct val="80000"/>
              </a:lnSpc>
              <a:spcBef>
                <a:spcPts val="0"/>
              </a:spcBef>
              <a:spcAft>
                <a:spcPts val="0"/>
              </a:spcAft>
              <a:buSzPts val="1300"/>
              <a:buFont typeface="Merriweather"/>
              <a:buAutoNum type="arabicPeriod"/>
            </a:pPr>
            <a:r>
              <a:rPr lang="en" sz="1300"/>
              <a:t>Compare news type distributions</a:t>
            </a:r>
            <a:endParaRPr sz="1300"/>
          </a:p>
          <a:p>
            <a:pPr indent="0" lvl="0" marL="0" rtl="0" algn="l">
              <a:lnSpc>
                <a:spcPct val="80000"/>
              </a:lnSpc>
              <a:spcBef>
                <a:spcPts val="0"/>
              </a:spcBef>
              <a:spcAft>
                <a:spcPts val="0"/>
              </a:spcAft>
              <a:buNone/>
            </a:pPr>
            <a:r>
              <a:t/>
            </a:r>
            <a:endParaRPr sz="1300"/>
          </a:p>
          <a:p>
            <a:pPr indent="457200" lvl="0" marL="0" rtl="0" algn="l">
              <a:lnSpc>
                <a:spcPct val="80000"/>
              </a:lnSpc>
              <a:spcBef>
                <a:spcPts val="0"/>
              </a:spcBef>
              <a:spcAft>
                <a:spcPts val="0"/>
              </a:spcAft>
              <a:buSzPts val="688"/>
              <a:buNone/>
            </a:pPr>
            <a:r>
              <a:rPr lang="en" sz="1300"/>
              <a:t>(a)	Actual user engagement vs. recommender-ranked </a:t>
            </a:r>
            <a:r>
              <a:rPr lang="en" sz="1300"/>
              <a:t>exposure</a:t>
            </a:r>
            <a:endParaRPr sz="1300"/>
          </a:p>
          <a:p>
            <a:pPr indent="457200" lvl="0" marL="0" rtl="0" algn="l">
              <a:lnSpc>
                <a:spcPct val="80000"/>
              </a:lnSpc>
              <a:spcBef>
                <a:spcPts val="0"/>
              </a:spcBef>
              <a:spcAft>
                <a:spcPts val="0"/>
              </a:spcAft>
              <a:buSzPts val="688"/>
              <a:buNone/>
            </a:pPr>
            <a:r>
              <a:t/>
            </a:r>
            <a:endParaRPr sz="1300"/>
          </a:p>
          <a:p>
            <a:pPr indent="457200" lvl="0" marL="0" rtl="0" algn="l">
              <a:lnSpc>
                <a:spcPct val="80000"/>
              </a:lnSpc>
              <a:spcBef>
                <a:spcPts val="0"/>
              </a:spcBef>
              <a:spcAft>
                <a:spcPts val="0"/>
              </a:spcAft>
              <a:buSzPts val="688"/>
              <a:buNone/>
            </a:pPr>
            <a:r>
              <a:rPr lang="en" sz="1300"/>
              <a:t>(b)	Measure of similarity: Jensen-Shannon Divergence</a:t>
            </a:r>
            <a:endParaRPr sz="1300"/>
          </a:p>
          <a:p>
            <a:pPr indent="457200" lvl="0" marL="0" rtl="0" algn="l">
              <a:lnSpc>
                <a:spcPct val="80000"/>
              </a:lnSpc>
              <a:spcBef>
                <a:spcPts val="0"/>
              </a:spcBef>
              <a:spcAft>
                <a:spcPts val="0"/>
              </a:spcAft>
              <a:buSzPts val="688"/>
              <a:buNone/>
            </a:pPr>
            <a:r>
              <a:t/>
            </a:r>
            <a:endParaRPr sz="1300"/>
          </a:p>
          <a:p>
            <a:pPr indent="-311150" lvl="0" marL="457200" rtl="0" algn="l">
              <a:lnSpc>
                <a:spcPct val="80000"/>
              </a:lnSpc>
              <a:spcBef>
                <a:spcPts val="0"/>
              </a:spcBef>
              <a:spcAft>
                <a:spcPts val="0"/>
              </a:spcAft>
              <a:buSzPts val="1300"/>
              <a:buFont typeface="Merriweather"/>
              <a:buAutoNum type="arabicPeriod"/>
            </a:pPr>
            <a:r>
              <a:rPr lang="en" sz="1300"/>
              <a:t>Diversity Analysis</a:t>
            </a:r>
            <a:endParaRPr sz="1300"/>
          </a:p>
          <a:p>
            <a:pPr indent="0" lvl="0" marL="457200" rtl="0" algn="l">
              <a:lnSpc>
                <a:spcPct val="80000"/>
              </a:lnSpc>
              <a:spcBef>
                <a:spcPts val="0"/>
              </a:spcBef>
              <a:spcAft>
                <a:spcPts val="0"/>
              </a:spcAft>
              <a:buNone/>
            </a:pPr>
            <a:r>
              <a:t/>
            </a:r>
            <a:endParaRPr sz="1300"/>
          </a:p>
          <a:p>
            <a:pPr indent="0" lvl="0" marL="457200" rtl="0" algn="l">
              <a:lnSpc>
                <a:spcPct val="80000"/>
              </a:lnSpc>
              <a:spcBef>
                <a:spcPts val="0"/>
              </a:spcBef>
              <a:spcAft>
                <a:spcPts val="0"/>
              </a:spcAft>
              <a:buNone/>
            </a:pPr>
            <a:r>
              <a:rPr lang="en" sz="1300"/>
              <a:t>User-wise Gini coefficient</a:t>
            </a:r>
            <a:endParaRPr sz="1300"/>
          </a:p>
          <a:p>
            <a:pPr indent="0" lvl="0" marL="457200" rtl="0" algn="l">
              <a:lnSpc>
                <a:spcPct val="80000"/>
              </a:lnSpc>
              <a:spcBef>
                <a:spcPts val="0"/>
              </a:spcBef>
              <a:spcAft>
                <a:spcPts val="0"/>
              </a:spcAft>
              <a:buNone/>
            </a:pPr>
            <a:r>
              <a:t/>
            </a:r>
            <a:endParaRPr sz="1300"/>
          </a:p>
          <a:p>
            <a:pPr indent="0" lvl="0" marL="457200" rtl="0" algn="l">
              <a:lnSpc>
                <a:spcPct val="80000"/>
              </a:lnSpc>
              <a:spcBef>
                <a:spcPts val="0"/>
              </a:spcBef>
              <a:spcAft>
                <a:spcPts val="0"/>
              </a:spcAft>
              <a:buNone/>
            </a:pPr>
            <a:r>
              <a:rPr lang="en" sz="1300"/>
              <a:t>User-wise Entropy</a:t>
            </a:r>
            <a:endParaRPr sz="1300"/>
          </a:p>
          <a:p>
            <a:pPr indent="0" lvl="0" marL="457200" rtl="0" algn="l">
              <a:lnSpc>
                <a:spcPct val="80000"/>
              </a:lnSpc>
              <a:spcBef>
                <a:spcPts val="0"/>
              </a:spcBef>
              <a:spcAft>
                <a:spcPts val="0"/>
              </a:spcAft>
              <a:buNone/>
            </a:pPr>
            <a:r>
              <a:t/>
            </a:r>
            <a:endParaRPr sz="1300"/>
          </a:p>
          <a:p>
            <a:pPr indent="0" lvl="0" marL="457200" rtl="0" algn="l">
              <a:lnSpc>
                <a:spcPct val="80000"/>
              </a:lnSpc>
              <a:spcBef>
                <a:spcPts val="0"/>
              </a:spcBef>
              <a:spcAft>
                <a:spcPts val="0"/>
              </a:spcAft>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highlight>
                <a:srgbClr val="FFFFFF"/>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3"/>
          <p:cNvSpPr txBox="1"/>
          <p:nvPr>
            <p:ph type="ctrTitle"/>
          </p:nvPr>
        </p:nvSpPr>
        <p:spPr>
          <a:xfrm>
            <a:off x="460600" y="441175"/>
            <a:ext cx="8154600" cy="42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140"/>
              <a:t>Individual</a:t>
            </a:r>
            <a:r>
              <a:rPr lang="en" sz="3140"/>
              <a:t> Exposure vs. Clicks Analysis</a:t>
            </a:r>
            <a:endParaRPr sz="3140"/>
          </a:p>
        </p:txBody>
      </p:sp>
      <p:sp>
        <p:nvSpPr>
          <p:cNvPr id="266" name="Google Shape;266;p43"/>
          <p:cNvSpPr txBox="1"/>
          <p:nvPr>
            <p:ph idx="1" type="subTitle"/>
          </p:nvPr>
        </p:nvSpPr>
        <p:spPr>
          <a:xfrm>
            <a:off x="720175" y="1128700"/>
            <a:ext cx="8022900" cy="422700"/>
          </a:xfrm>
          <a:prstGeom prst="rect">
            <a:avLst/>
          </a:prstGeom>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1018"/>
              <a:buNone/>
            </a:pPr>
            <a:r>
              <a:t/>
            </a:r>
            <a:endParaRPr sz="1300">
              <a:highlight>
                <a:srgbClr val="FFFFFF"/>
              </a:highlight>
            </a:endParaRPr>
          </a:p>
          <a:p>
            <a:pPr indent="0" lvl="0" marL="0" rtl="0" algn="l">
              <a:lnSpc>
                <a:spcPct val="80000"/>
              </a:lnSpc>
              <a:spcBef>
                <a:spcPts val="0"/>
              </a:spcBef>
              <a:spcAft>
                <a:spcPts val="0"/>
              </a:spcAft>
              <a:buSzPts val="1018"/>
              <a:buNone/>
            </a:pPr>
            <a:r>
              <a:t/>
            </a:r>
            <a:endParaRPr sz="1300">
              <a:highlight>
                <a:srgbClr val="FFFFFF"/>
              </a:highlight>
            </a:endParaRPr>
          </a:p>
          <a:p>
            <a:pPr indent="0" lvl="0" marL="0" rtl="0" algn="l">
              <a:lnSpc>
                <a:spcPct val="80000"/>
              </a:lnSpc>
              <a:spcBef>
                <a:spcPts val="0"/>
              </a:spcBef>
              <a:spcAft>
                <a:spcPts val="0"/>
              </a:spcAft>
              <a:buSzPts val="1018"/>
              <a:buNone/>
            </a:pPr>
            <a:r>
              <a:rPr lang="en" sz="1300">
                <a:highlight>
                  <a:srgbClr val="FFFFFF"/>
                </a:highlight>
              </a:rPr>
              <a:t>Compares the proportion of news type exposures to clicks</a:t>
            </a:r>
            <a:endParaRPr sz="1300">
              <a:highlight>
                <a:srgbClr val="FFFFFF"/>
              </a:highlight>
            </a:endParaRPr>
          </a:p>
          <a:p>
            <a:pPr indent="0" lvl="0" marL="0" rtl="0" algn="l">
              <a:lnSpc>
                <a:spcPct val="80000"/>
              </a:lnSpc>
              <a:spcBef>
                <a:spcPts val="0"/>
              </a:spcBef>
              <a:spcAft>
                <a:spcPts val="0"/>
              </a:spcAft>
              <a:buSzPts val="1018"/>
              <a:buNone/>
            </a:pPr>
            <a:r>
              <a:t/>
            </a:r>
            <a:endParaRPr sz="1300">
              <a:highlight>
                <a:srgbClr val="FFFFFF"/>
              </a:highlight>
            </a:endParaRPr>
          </a:p>
          <a:p>
            <a:pPr indent="0" lvl="0" marL="0" rtl="0" algn="l">
              <a:lnSpc>
                <a:spcPct val="80000"/>
              </a:lnSpc>
              <a:spcBef>
                <a:spcPts val="0"/>
              </a:spcBef>
              <a:spcAft>
                <a:spcPts val="0"/>
              </a:spcAft>
              <a:buSzPts val="1018"/>
              <a:buNone/>
            </a:pPr>
            <a:r>
              <a:t/>
            </a:r>
            <a:endParaRPr sz="1300"/>
          </a:p>
        </p:txBody>
      </p:sp>
      <p:sp>
        <p:nvSpPr>
          <p:cNvPr id="267" name="Google Shape;267;p43"/>
          <p:cNvSpPr txBox="1"/>
          <p:nvPr/>
        </p:nvSpPr>
        <p:spPr>
          <a:xfrm>
            <a:off x="720175" y="1414925"/>
            <a:ext cx="1706100" cy="4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Merriweather"/>
                <a:ea typeface="Merriweather"/>
                <a:cs typeface="Merriweather"/>
                <a:sym typeface="Merriweather"/>
              </a:rPr>
              <a:t>– Single user</a:t>
            </a:r>
            <a:endParaRPr sz="1300">
              <a:solidFill>
                <a:schemeClr val="dk2"/>
              </a:solidFill>
              <a:latin typeface="Merriweather"/>
              <a:ea typeface="Merriweather"/>
              <a:cs typeface="Merriweather"/>
              <a:sym typeface="Merriweather"/>
            </a:endParaRPr>
          </a:p>
        </p:txBody>
      </p:sp>
      <p:pic>
        <p:nvPicPr>
          <p:cNvPr id="268" name="Google Shape;268;p43"/>
          <p:cNvPicPr preferRelativeResize="0"/>
          <p:nvPr/>
        </p:nvPicPr>
        <p:blipFill>
          <a:blip r:embed="rId3">
            <a:alphaModFix/>
          </a:blip>
          <a:stretch>
            <a:fillRect/>
          </a:stretch>
        </p:blipFill>
        <p:spPr>
          <a:xfrm>
            <a:off x="4571994" y="1816225"/>
            <a:ext cx="4407850" cy="3305876"/>
          </a:xfrm>
          <a:prstGeom prst="rect">
            <a:avLst/>
          </a:prstGeom>
          <a:noFill/>
          <a:ln>
            <a:noFill/>
          </a:ln>
        </p:spPr>
      </p:pic>
      <p:pic>
        <p:nvPicPr>
          <p:cNvPr id="269" name="Google Shape;269;p43"/>
          <p:cNvPicPr preferRelativeResize="0"/>
          <p:nvPr/>
        </p:nvPicPr>
        <p:blipFill>
          <a:blip r:embed="rId4">
            <a:alphaModFix/>
          </a:blip>
          <a:stretch>
            <a:fillRect/>
          </a:stretch>
        </p:blipFill>
        <p:spPr>
          <a:xfrm>
            <a:off x="90875" y="1816219"/>
            <a:ext cx="4407850" cy="330589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4"/>
          <p:cNvSpPr txBox="1"/>
          <p:nvPr>
            <p:ph type="ctrTitle"/>
          </p:nvPr>
        </p:nvSpPr>
        <p:spPr>
          <a:xfrm>
            <a:off x="648275" y="441175"/>
            <a:ext cx="7685400" cy="42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140"/>
              <a:t>Overall </a:t>
            </a:r>
            <a:r>
              <a:rPr lang="en" sz="3140"/>
              <a:t>Exposure vs. Clicks Disparity</a:t>
            </a:r>
            <a:endParaRPr sz="3140"/>
          </a:p>
        </p:txBody>
      </p:sp>
      <p:sp>
        <p:nvSpPr>
          <p:cNvPr id="275" name="Google Shape;275;p44"/>
          <p:cNvSpPr txBox="1"/>
          <p:nvPr>
            <p:ph idx="1" type="subTitle"/>
          </p:nvPr>
        </p:nvSpPr>
        <p:spPr>
          <a:xfrm>
            <a:off x="720175" y="1128700"/>
            <a:ext cx="8022900" cy="422700"/>
          </a:xfrm>
          <a:prstGeom prst="rect">
            <a:avLst/>
          </a:prstGeom>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1018"/>
              <a:buNone/>
            </a:pPr>
            <a:r>
              <a:t/>
            </a:r>
            <a:endParaRPr sz="1300">
              <a:highlight>
                <a:srgbClr val="FFFFFF"/>
              </a:highlight>
            </a:endParaRPr>
          </a:p>
          <a:p>
            <a:pPr indent="0" lvl="0" marL="0" rtl="0" algn="l">
              <a:lnSpc>
                <a:spcPct val="80000"/>
              </a:lnSpc>
              <a:spcBef>
                <a:spcPts val="0"/>
              </a:spcBef>
              <a:spcAft>
                <a:spcPts val="0"/>
              </a:spcAft>
              <a:buSzPts val="1018"/>
              <a:buNone/>
            </a:pPr>
            <a:r>
              <a:t/>
            </a:r>
            <a:endParaRPr sz="1300">
              <a:highlight>
                <a:srgbClr val="FFFFFF"/>
              </a:highlight>
            </a:endParaRPr>
          </a:p>
          <a:p>
            <a:pPr indent="0" lvl="0" marL="0" rtl="0" algn="l">
              <a:lnSpc>
                <a:spcPct val="80000"/>
              </a:lnSpc>
              <a:spcBef>
                <a:spcPts val="0"/>
              </a:spcBef>
              <a:spcAft>
                <a:spcPts val="0"/>
              </a:spcAft>
              <a:buClr>
                <a:schemeClr val="dk1"/>
              </a:buClr>
              <a:buSzPts val="1018"/>
              <a:buFont typeface="Arial"/>
              <a:buNone/>
            </a:pPr>
            <a:r>
              <a:rPr lang="en" sz="1300">
                <a:highlight>
                  <a:schemeClr val="lt1"/>
                </a:highlight>
              </a:rPr>
              <a:t>Compares the proportion of news type exposures to clicks</a:t>
            </a:r>
            <a:endParaRPr sz="1300">
              <a:highlight>
                <a:srgbClr val="FFFFFF"/>
              </a:highlight>
            </a:endParaRPr>
          </a:p>
          <a:p>
            <a:pPr indent="0" lvl="0" marL="0" rtl="0" algn="l">
              <a:lnSpc>
                <a:spcPct val="80000"/>
              </a:lnSpc>
              <a:spcBef>
                <a:spcPts val="0"/>
              </a:spcBef>
              <a:spcAft>
                <a:spcPts val="0"/>
              </a:spcAft>
              <a:buSzPts val="1018"/>
              <a:buNone/>
            </a:pPr>
            <a:r>
              <a:t/>
            </a:r>
            <a:endParaRPr sz="1300">
              <a:highlight>
                <a:srgbClr val="FFFFFF"/>
              </a:highlight>
            </a:endParaRPr>
          </a:p>
          <a:p>
            <a:pPr indent="0" lvl="0" marL="0" rtl="0" algn="l">
              <a:lnSpc>
                <a:spcPct val="80000"/>
              </a:lnSpc>
              <a:spcBef>
                <a:spcPts val="0"/>
              </a:spcBef>
              <a:spcAft>
                <a:spcPts val="0"/>
              </a:spcAft>
              <a:buSzPts val="1018"/>
              <a:buNone/>
            </a:pPr>
            <a:r>
              <a:t/>
            </a:r>
            <a:endParaRPr sz="1300"/>
          </a:p>
        </p:txBody>
      </p:sp>
      <p:pic>
        <p:nvPicPr>
          <p:cNvPr id="276" name="Google Shape;276;p44"/>
          <p:cNvPicPr preferRelativeResize="0"/>
          <p:nvPr/>
        </p:nvPicPr>
        <p:blipFill>
          <a:blip r:embed="rId3">
            <a:alphaModFix/>
          </a:blip>
          <a:stretch>
            <a:fillRect/>
          </a:stretch>
        </p:blipFill>
        <p:spPr>
          <a:xfrm>
            <a:off x="2064250" y="1799825"/>
            <a:ext cx="5015511" cy="3343674"/>
          </a:xfrm>
          <a:prstGeom prst="rect">
            <a:avLst/>
          </a:prstGeom>
          <a:noFill/>
          <a:ln>
            <a:noFill/>
          </a:ln>
        </p:spPr>
      </p:pic>
      <p:sp>
        <p:nvSpPr>
          <p:cNvPr id="277" name="Google Shape;277;p44"/>
          <p:cNvSpPr txBox="1"/>
          <p:nvPr/>
        </p:nvSpPr>
        <p:spPr>
          <a:xfrm>
            <a:off x="720175" y="1467125"/>
            <a:ext cx="2819700" cy="3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Merriweather"/>
                <a:ea typeface="Merriweather"/>
                <a:cs typeface="Merriweather"/>
                <a:sym typeface="Merriweather"/>
              </a:rPr>
              <a:t>– Across all users</a:t>
            </a:r>
            <a:endParaRPr sz="1300">
              <a:solidFill>
                <a:schemeClr val="dk2"/>
              </a:solidFill>
              <a:latin typeface="Merriweather"/>
              <a:ea typeface="Merriweather"/>
              <a:cs typeface="Merriweather"/>
              <a:sym typeface="Merriweath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5"/>
          <p:cNvSpPr txBox="1"/>
          <p:nvPr/>
        </p:nvSpPr>
        <p:spPr>
          <a:xfrm>
            <a:off x="670900" y="1076725"/>
            <a:ext cx="76779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highlight>
                  <a:srgbClr val="FFFFFF"/>
                </a:highlight>
                <a:latin typeface="Merriweather"/>
                <a:ea typeface="Merriweather"/>
                <a:cs typeface="Merriweather"/>
                <a:sym typeface="Merriweather"/>
              </a:rPr>
              <a:t>Use JSD to evaluate how well the rank-based news type distribution in impressions </a:t>
            </a:r>
            <a:endParaRPr sz="1300">
              <a:solidFill>
                <a:schemeClr val="dk2"/>
              </a:solidFill>
              <a:highlight>
                <a:srgbClr val="FFFFFF"/>
              </a:highlight>
              <a:latin typeface="Merriweather"/>
              <a:ea typeface="Merriweather"/>
              <a:cs typeface="Merriweather"/>
              <a:sym typeface="Merriweather"/>
            </a:endParaRPr>
          </a:p>
          <a:p>
            <a:pPr indent="0" lvl="0" marL="0" rtl="0" algn="l">
              <a:spcBef>
                <a:spcPts val="0"/>
              </a:spcBef>
              <a:spcAft>
                <a:spcPts val="0"/>
              </a:spcAft>
              <a:buNone/>
            </a:pPr>
            <a:r>
              <a:rPr lang="en" sz="1300">
                <a:solidFill>
                  <a:schemeClr val="dk2"/>
                </a:solidFill>
                <a:highlight>
                  <a:srgbClr val="FFFFFF"/>
                </a:highlight>
                <a:latin typeface="Merriweather"/>
                <a:ea typeface="Merriweather"/>
                <a:cs typeface="Merriweather"/>
                <a:sym typeface="Merriweather"/>
              </a:rPr>
              <a:t>aligns with that reflected by user clicks</a:t>
            </a:r>
            <a:endParaRPr sz="1300">
              <a:solidFill>
                <a:schemeClr val="dk2"/>
              </a:solidFill>
              <a:highlight>
                <a:srgbClr val="FFFFFF"/>
              </a:highlight>
              <a:latin typeface="Merriweather"/>
              <a:ea typeface="Merriweather"/>
              <a:cs typeface="Merriweather"/>
              <a:sym typeface="Merriweather"/>
            </a:endParaRPr>
          </a:p>
          <a:p>
            <a:pPr indent="0" lvl="0" marL="0" rtl="0" algn="l">
              <a:spcBef>
                <a:spcPts val="0"/>
              </a:spcBef>
              <a:spcAft>
                <a:spcPts val="0"/>
              </a:spcAft>
              <a:buNone/>
            </a:pPr>
            <a:r>
              <a:t/>
            </a:r>
            <a:endParaRPr sz="1300">
              <a:solidFill>
                <a:schemeClr val="dk2"/>
              </a:solidFill>
              <a:highlight>
                <a:srgbClr val="FFFFFF"/>
              </a:highlight>
              <a:latin typeface="Merriweather"/>
              <a:ea typeface="Merriweather"/>
              <a:cs typeface="Merriweather"/>
              <a:sym typeface="Merriweather"/>
            </a:endParaRPr>
          </a:p>
          <a:p>
            <a:pPr indent="0" lvl="0" marL="0" rtl="0" algn="l">
              <a:spcBef>
                <a:spcPts val="0"/>
              </a:spcBef>
              <a:spcAft>
                <a:spcPts val="0"/>
              </a:spcAft>
              <a:buNone/>
            </a:pPr>
            <a:r>
              <a:rPr lang="en" sz="1300">
                <a:solidFill>
                  <a:schemeClr val="dk2"/>
                </a:solidFill>
                <a:highlight>
                  <a:srgbClr val="FFFFFF"/>
                </a:highlight>
                <a:latin typeface="Merriweather"/>
                <a:ea typeface="Merriweather"/>
                <a:cs typeface="Merriweather"/>
                <a:sym typeface="Merriweather"/>
              </a:rPr>
              <a:t>Lower JSD</a:t>
            </a:r>
            <a:endParaRPr sz="1300">
              <a:solidFill>
                <a:schemeClr val="dk2"/>
              </a:solidFill>
              <a:highlight>
                <a:srgbClr val="FFFFFF"/>
              </a:highlight>
              <a:latin typeface="Merriweather"/>
              <a:ea typeface="Merriweather"/>
              <a:cs typeface="Merriweather"/>
              <a:sym typeface="Merriweather"/>
            </a:endParaRPr>
          </a:p>
          <a:p>
            <a:pPr indent="0" lvl="0" marL="0" rtl="0" algn="l">
              <a:spcBef>
                <a:spcPts val="0"/>
              </a:spcBef>
              <a:spcAft>
                <a:spcPts val="0"/>
              </a:spcAft>
              <a:buNone/>
            </a:pPr>
            <a:r>
              <a:rPr lang="en" sz="1300">
                <a:solidFill>
                  <a:schemeClr val="dk2"/>
                </a:solidFill>
                <a:highlight>
                  <a:srgbClr val="FFFFFF"/>
                </a:highlight>
                <a:latin typeface="Merriweather"/>
                <a:ea typeface="Merriweather"/>
                <a:cs typeface="Merriweather"/>
                <a:sym typeface="Merriweather"/>
              </a:rPr>
              <a:t>is better</a:t>
            </a:r>
            <a:endParaRPr sz="1300">
              <a:solidFill>
                <a:schemeClr val="dk2"/>
              </a:solidFill>
              <a:latin typeface="Merriweather"/>
              <a:ea typeface="Merriweather"/>
              <a:cs typeface="Merriweather"/>
              <a:sym typeface="Merriweather"/>
            </a:endParaRPr>
          </a:p>
        </p:txBody>
      </p:sp>
      <p:pic>
        <p:nvPicPr>
          <p:cNvPr id="283" name="Google Shape;283;p45"/>
          <p:cNvPicPr preferRelativeResize="0"/>
          <p:nvPr/>
        </p:nvPicPr>
        <p:blipFill>
          <a:blip r:embed="rId3">
            <a:alphaModFix/>
          </a:blip>
          <a:stretch>
            <a:fillRect/>
          </a:stretch>
        </p:blipFill>
        <p:spPr>
          <a:xfrm>
            <a:off x="1683375" y="1648225"/>
            <a:ext cx="5825450" cy="3495274"/>
          </a:xfrm>
          <a:prstGeom prst="rect">
            <a:avLst/>
          </a:prstGeom>
          <a:noFill/>
          <a:ln>
            <a:noFill/>
          </a:ln>
        </p:spPr>
      </p:pic>
      <p:sp>
        <p:nvSpPr>
          <p:cNvPr id="284" name="Google Shape;284;p45"/>
          <p:cNvSpPr txBox="1"/>
          <p:nvPr>
            <p:ph type="ctrTitle"/>
          </p:nvPr>
        </p:nvSpPr>
        <p:spPr>
          <a:xfrm>
            <a:off x="670900" y="498900"/>
            <a:ext cx="7850400" cy="42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100"/>
              <a:t>Similarity between type distributions</a:t>
            </a:r>
            <a:endParaRPr sz="3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6"/>
          <p:cNvSpPr txBox="1"/>
          <p:nvPr>
            <p:ph type="ctrTitle"/>
          </p:nvPr>
        </p:nvSpPr>
        <p:spPr>
          <a:xfrm>
            <a:off x="1605300" y="498912"/>
            <a:ext cx="5933400" cy="42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100"/>
              <a:t>Diversity Analysis</a:t>
            </a:r>
            <a:endParaRPr sz="3100"/>
          </a:p>
        </p:txBody>
      </p:sp>
      <p:sp>
        <p:nvSpPr>
          <p:cNvPr id="290" name="Google Shape;290;p46"/>
          <p:cNvSpPr txBox="1"/>
          <p:nvPr>
            <p:ph idx="1" type="subTitle"/>
          </p:nvPr>
        </p:nvSpPr>
        <p:spPr>
          <a:xfrm>
            <a:off x="728700" y="1106900"/>
            <a:ext cx="7686600" cy="28440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358"/>
              <a:buNone/>
            </a:pPr>
            <a:r>
              <a:rPr lang="en" sz="1300"/>
              <a:t>Metrics</a:t>
            </a:r>
            <a:endParaRPr sz="1300"/>
          </a:p>
          <a:p>
            <a:pPr indent="0" lvl="0" marL="0" rtl="0" algn="l">
              <a:lnSpc>
                <a:spcPct val="90000"/>
              </a:lnSpc>
              <a:spcBef>
                <a:spcPts val="0"/>
              </a:spcBef>
              <a:spcAft>
                <a:spcPts val="0"/>
              </a:spcAft>
              <a:buSzPts val="358"/>
              <a:buNone/>
            </a:pPr>
            <a:r>
              <a:t/>
            </a:r>
            <a:endParaRPr sz="1300"/>
          </a:p>
          <a:p>
            <a:pPr indent="0" lvl="0" marL="0" rtl="0" algn="l">
              <a:lnSpc>
                <a:spcPct val="90000"/>
              </a:lnSpc>
              <a:spcBef>
                <a:spcPts val="0"/>
              </a:spcBef>
              <a:spcAft>
                <a:spcPts val="0"/>
              </a:spcAft>
              <a:buSzPts val="358"/>
              <a:buNone/>
            </a:pPr>
            <a:r>
              <a:rPr lang="en" sz="1300"/>
              <a:t>Gini coefficient : </a:t>
            </a:r>
            <a:r>
              <a:rPr lang="en" sz="1300">
                <a:highlight>
                  <a:srgbClr val="FFFFFF"/>
                </a:highlight>
              </a:rPr>
              <a:t>measures how concentrated the exposure to news types is</a:t>
            </a:r>
            <a:endParaRPr sz="1300">
              <a:highlight>
                <a:srgbClr val="FFFFFF"/>
              </a:highlight>
            </a:endParaRPr>
          </a:p>
          <a:p>
            <a:pPr indent="0" lvl="0" marL="0" rtl="0" algn="l">
              <a:lnSpc>
                <a:spcPct val="90000"/>
              </a:lnSpc>
              <a:spcBef>
                <a:spcPts val="0"/>
              </a:spcBef>
              <a:spcAft>
                <a:spcPts val="0"/>
              </a:spcAft>
              <a:buSzPts val="358"/>
              <a:buNone/>
            </a:pPr>
            <a:r>
              <a:t/>
            </a:r>
            <a:endParaRPr sz="1300">
              <a:highlight>
                <a:srgbClr val="FFFFFF"/>
              </a:highlight>
            </a:endParaRPr>
          </a:p>
          <a:p>
            <a:pPr indent="457200" lvl="0" marL="0" rtl="0" algn="l">
              <a:lnSpc>
                <a:spcPct val="90000"/>
              </a:lnSpc>
              <a:spcBef>
                <a:spcPts val="0"/>
              </a:spcBef>
              <a:spcAft>
                <a:spcPts val="0"/>
              </a:spcAft>
              <a:buSzPts val="358"/>
              <a:buNone/>
            </a:pPr>
            <a:r>
              <a:rPr lang="en" sz="1300">
                <a:highlight>
                  <a:srgbClr val="FFFFFF"/>
                </a:highlight>
              </a:rPr>
              <a:t>Low Gini                   a more equitable distribution across different types</a:t>
            </a:r>
            <a:endParaRPr sz="1300">
              <a:highlight>
                <a:srgbClr val="FFFFFF"/>
              </a:highlight>
            </a:endParaRPr>
          </a:p>
          <a:p>
            <a:pPr indent="0" lvl="0" marL="0" rtl="0" algn="l">
              <a:lnSpc>
                <a:spcPct val="90000"/>
              </a:lnSpc>
              <a:spcBef>
                <a:spcPts val="0"/>
              </a:spcBef>
              <a:spcAft>
                <a:spcPts val="0"/>
              </a:spcAft>
              <a:buSzPts val="358"/>
              <a:buNone/>
            </a:pPr>
            <a:r>
              <a:t/>
            </a:r>
            <a:endParaRPr sz="1300"/>
          </a:p>
          <a:p>
            <a:pPr indent="0" lvl="0" marL="0" rtl="0" algn="l">
              <a:lnSpc>
                <a:spcPct val="90000"/>
              </a:lnSpc>
              <a:spcBef>
                <a:spcPts val="0"/>
              </a:spcBef>
              <a:spcAft>
                <a:spcPts val="0"/>
              </a:spcAft>
              <a:buSzPts val="358"/>
              <a:buNone/>
            </a:pPr>
            <a:r>
              <a:t/>
            </a:r>
            <a:endParaRPr sz="1300"/>
          </a:p>
          <a:p>
            <a:pPr indent="0" lvl="0" marL="0" rtl="0" algn="l">
              <a:lnSpc>
                <a:spcPct val="90000"/>
              </a:lnSpc>
              <a:spcBef>
                <a:spcPts val="0"/>
              </a:spcBef>
              <a:spcAft>
                <a:spcPts val="0"/>
              </a:spcAft>
              <a:buSzPts val="358"/>
              <a:buNone/>
            </a:pPr>
            <a:r>
              <a:rPr lang="en" sz="1300"/>
              <a:t>Entropy: </a:t>
            </a:r>
            <a:r>
              <a:rPr lang="en" sz="1300">
                <a:highlight>
                  <a:srgbClr val="FFFFFF"/>
                </a:highlight>
              </a:rPr>
              <a:t>assess how varied the types of news are</a:t>
            </a:r>
            <a:endParaRPr sz="1300">
              <a:highlight>
                <a:srgbClr val="FFFFFF"/>
              </a:highlight>
            </a:endParaRPr>
          </a:p>
          <a:p>
            <a:pPr indent="0" lvl="0" marL="0" rtl="0" algn="l">
              <a:lnSpc>
                <a:spcPct val="90000"/>
              </a:lnSpc>
              <a:spcBef>
                <a:spcPts val="0"/>
              </a:spcBef>
              <a:spcAft>
                <a:spcPts val="0"/>
              </a:spcAft>
              <a:buSzPts val="358"/>
              <a:buNone/>
            </a:pPr>
            <a:r>
              <a:t/>
            </a:r>
            <a:endParaRPr sz="1300">
              <a:highlight>
                <a:srgbClr val="FFFFFF"/>
              </a:highlight>
            </a:endParaRPr>
          </a:p>
          <a:p>
            <a:pPr indent="0" lvl="0" marL="0" rtl="0" algn="l">
              <a:lnSpc>
                <a:spcPct val="90000"/>
              </a:lnSpc>
              <a:spcBef>
                <a:spcPts val="0"/>
              </a:spcBef>
              <a:spcAft>
                <a:spcPts val="0"/>
              </a:spcAft>
              <a:buSzPts val="358"/>
              <a:buNone/>
            </a:pPr>
            <a:r>
              <a:rPr lang="en" sz="1300">
                <a:highlight>
                  <a:srgbClr val="FFFFFF"/>
                </a:highlight>
              </a:rPr>
              <a:t>	High entropy                  a high level of diversity</a:t>
            </a:r>
            <a:endParaRPr sz="1300">
              <a:highlight>
                <a:srgbClr val="FFFFFF"/>
              </a:highlight>
            </a:endParaRPr>
          </a:p>
        </p:txBody>
      </p:sp>
      <p:cxnSp>
        <p:nvCxnSpPr>
          <p:cNvPr id="291" name="Google Shape;291;p46"/>
          <p:cNvCxnSpPr/>
          <p:nvPr/>
        </p:nvCxnSpPr>
        <p:spPr>
          <a:xfrm>
            <a:off x="2098325" y="2440675"/>
            <a:ext cx="579900" cy="0"/>
          </a:xfrm>
          <a:prstGeom prst="straightConnector1">
            <a:avLst/>
          </a:prstGeom>
          <a:noFill/>
          <a:ln cap="flat" cmpd="sng" w="9525">
            <a:solidFill>
              <a:schemeClr val="dk2"/>
            </a:solidFill>
            <a:prstDash val="solid"/>
            <a:round/>
            <a:headEnd len="med" w="med" type="none"/>
            <a:tailEnd len="med" w="med" type="triangle"/>
          </a:ln>
        </p:spPr>
      </p:cxnSp>
      <p:cxnSp>
        <p:nvCxnSpPr>
          <p:cNvPr id="292" name="Google Shape;292;p46"/>
          <p:cNvCxnSpPr/>
          <p:nvPr/>
        </p:nvCxnSpPr>
        <p:spPr>
          <a:xfrm>
            <a:off x="2419375" y="3339800"/>
            <a:ext cx="579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7"/>
          <p:cNvSpPr txBox="1"/>
          <p:nvPr>
            <p:ph type="ctrTitle"/>
          </p:nvPr>
        </p:nvSpPr>
        <p:spPr>
          <a:xfrm>
            <a:off x="645275" y="347825"/>
            <a:ext cx="8001600" cy="63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200">
                <a:solidFill>
                  <a:srgbClr val="0D0D0D"/>
                </a:solidFill>
                <a:highlight>
                  <a:srgbClr val="FFFFFF"/>
                </a:highlight>
              </a:rPr>
              <a:t>Distribution inequality of news types among rank-weighted</a:t>
            </a:r>
            <a:r>
              <a:rPr lang="en" sz="2200">
                <a:solidFill>
                  <a:srgbClr val="0D0D0D"/>
                </a:solidFill>
                <a:highlight>
                  <a:srgbClr val="FFFFFF"/>
                </a:highlight>
              </a:rPr>
              <a:t> </a:t>
            </a:r>
            <a:r>
              <a:rPr lang="en" sz="2200">
                <a:solidFill>
                  <a:srgbClr val="0D0D0D"/>
                </a:solidFill>
                <a:highlight>
                  <a:srgbClr val="FFFFFF"/>
                </a:highlight>
              </a:rPr>
              <a:t>news exposures</a:t>
            </a:r>
            <a:endParaRPr sz="2200"/>
          </a:p>
        </p:txBody>
      </p:sp>
      <p:sp>
        <p:nvSpPr>
          <p:cNvPr id="298" name="Google Shape;298;p47"/>
          <p:cNvSpPr txBox="1"/>
          <p:nvPr/>
        </p:nvSpPr>
        <p:spPr>
          <a:xfrm>
            <a:off x="695725" y="1043625"/>
            <a:ext cx="5276100" cy="47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highlight>
                  <a:srgbClr val="FFFFFF"/>
                </a:highlight>
                <a:latin typeface="Merriweather"/>
                <a:ea typeface="Merriweather"/>
                <a:cs typeface="Merriweather"/>
                <a:sym typeface="Merriweather"/>
              </a:rPr>
              <a:t>Gini coefficient distribution across all users </a:t>
            </a:r>
            <a:endParaRPr sz="1300">
              <a:solidFill>
                <a:schemeClr val="dk2"/>
              </a:solidFill>
              <a:latin typeface="Merriweather"/>
              <a:ea typeface="Merriweather"/>
              <a:cs typeface="Merriweather"/>
              <a:sym typeface="Merriweather"/>
            </a:endParaRPr>
          </a:p>
        </p:txBody>
      </p:sp>
      <p:pic>
        <p:nvPicPr>
          <p:cNvPr id="299" name="Google Shape;299;p47"/>
          <p:cNvPicPr preferRelativeResize="0"/>
          <p:nvPr/>
        </p:nvPicPr>
        <p:blipFill>
          <a:blip r:embed="rId3">
            <a:alphaModFix/>
          </a:blip>
          <a:stretch>
            <a:fillRect/>
          </a:stretch>
        </p:blipFill>
        <p:spPr>
          <a:xfrm>
            <a:off x="2018749" y="1413475"/>
            <a:ext cx="5106499" cy="364785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8"/>
          <p:cNvSpPr txBox="1"/>
          <p:nvPr>
            <p:ph type="ctrTitle"/>
          </p:nvPr>
        </p:nvSpPr>
        <p:spPr>
          <a:xfrm>
            <a:off x="695725" y="396550"/>
            <a:ext cx="7056600" cy="42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200">
                <a:solidFill>
                  <a:srgbClr val="0D0D0D"/>
                </a:solidFill>
                <a:highlight>
                  <a:srgbClr val="FFFFFF"/>
                </a:highlight>
              </a:rPr>
              <a:t>Diversity of news types in the rank-weighted news exposures</a:t>
            </a:r>
            <a:endParaRPr sz="2200"/>
          </a:p>
        </p:txBody>
      </p:sp>
      <p:sp>
        <p:nvSpPr>
          <p:cNvPr id="305" name="Google Shape;305;p48"/>
          <p:cNvSpPr txBox="1"/>
          <p:nvPr/>
        </p:nvSpPr>
        <p:spPr>
          <a:xfrm>
            <a:off x="695725" y="1043625"/>
            <a:ext cx="4000500" cy="47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highlight>
                  <a:srgbClr val="FFFFFF"/>
                </a:highlight>
                <a:latin typeface="Merriweather"/>
                <a:ea typeface="Merriweather"/>
                <a:cs typeface="Merriweather"/>
                <a:sym typeface="Merriweather"/>
              </a:rPr>
              <a:t>Entropy </a:t>
            </a:r>
            <a:r>
              <a:rPr lang="en" sz="1300">
                <a:solidFill>
                  <a:schemeClr val="dk2"/>
                </a:solidFill>
                <a:highlight>
                  <a:srgbClr val="FFFFFF"/>
                </a:highlight>
                <a:latin typeface="Merriweather"/>
                <a:ea typeface="Merriweather"/>
                <a:cs typeface="Merriweather"/>
                <a:sym typeface="Merriweather"/>
              </a:rPr>
              <a:t>distribution across all users </a:t>
            </a:r>
            <a:endParaRPr sz="1300">
              <a:solidFill>
                <a:schemeClr val="dk2"/>
              </a:solidFill>
              <a:latin typeface="Merriweather"/>
              <a:ea typeface="Merriweather"/>
              <a:cs typeface="Merriweather"/>
              <a:sym typeface="Merriweather"/>
            </a:endParaRPr>
          </a:p>
        </p:txBody>
      </p:sp>
      <p:pic>
        <p:nvPicPr>
          <p:cNvPr id="306" name="Google Shape;306;p48"/>
          <p:cNvPicPr preferRelativeResize="0"/>
          <p:nvPr/>
        </p:nvPicPr>
        <p:blipFill>
          <a:blip r:embed="rId3">
            <a:alphaModFix/>
          </a:blip>
          <a:stretch>
            <a:fillRect/>
          </a:stretch>
        </p:blipFill>
        <p:spPr>
          <a:xfrm>
            <a:off x="2034900" y="1395450"/>
            <a:ext cx="5074176" cy="36247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9"/>
          <p:cNvSpPr txBox="1"/>
          <p:nvPr>
            <p:ph type="ctrTitle"/>
          </p:nvPr>
        </p:nvSpPr>
        <p:spPr>
          <a:xfrm>
            <a:off x="1597800" y="441187"/>
            <a:ext cx="5933400" cy="42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Conclusion</a:t>
            </a:r>
            <a:endParaRPr/>
          </a:p>
        </p:txBody>
      </p:sp>
      <p:sp>
        <p:nvSpPr>
          <p:cNvPr id="312" name="Google Shape;312;p49"/>
          <p:cNvSpPr txBox="1"/>
          <p:nvPr>
            <p:ph idx="1" type="subTitle"/>
          </p:nvPr>
        </p:nvSpPr>
        <p:spPr>
          <a:xfrm>
            <a:off x="721200" y="1219800"/>
            <a:ext cx="7686600" cy="2081100"/>
          </a:xfrm>
          <a:prstGeom prst="rect">
            <a:avLst/>
          </a:prstGeom>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688"/>
              <a:buNone/>
            </a:pPr>
            <a:r>
              <a:rPr lang="en" sz="1300"/>
              <a:t>metrics for evaluating the similarity of news type distributions between actual user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rPr lang="en" sz="1300"/>
              <a:t>engagement and exposures</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t/>
            </a:r>
            <a:endParaRPr sz="1300"/>
          </a:p>
          <a:p>
            <a:pPr indent="0" lvl="0" marL="0" rtl="0" algn="l">
              <a:lnSpc>
                <a:spcPct val="80000"/>
              </a:lnSpc>
              <a:spcBef>
                <a:spcPts val="0"/>
              </a:spcBef>
              <a:spcAft>
                <a:spcPts val="0"/>
              </a:spcAft>
              <a:buSzPts val="688"/>
              <a:buNone/>
            </a:pPr>
            <a:r>
              <a:rPr lang="en" sz="1300"/>
              <a:t>metrics for evaluating the diversity and </a:t>
            </a:r>
            <a:r>
              <a:rPr lang="en" sz="1300"/>
              <a:t>equity of distribution of news types</a:t>
            </a:r>
            <a:endParaRPr sz="13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0"/>
          <p:cNvSpPr txBox="1"/>
          <p:nvPr>
            <p:ph type="ctrTitle"/>
          </p:nvPr>
        </p:nvSpPr>
        <p:spPr>
          <a:xfrm>
            <a:off x="1597800" y="441187"/>
            <a:ext cx="5933400" cy="42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100">
                <a:highlight>
                  <a:srgbClr val="FFFFFF"/>
                </a:highlight>
              </a:rPr>
              <a:t>Future Works</a:t>
            </a:r>
            <a:endParaRPr sz="3100"/>
          </a:p>
        </p:txBody>
      </p:sp>
      <p:sp>
        <p:nvSpPr>
          <p:cNvPr id="318" name="Google Shape;318;p50"/>
          <p:cNvSpPr txBox="1"/>
          <p:nvPr>
            <p:ph idx="1" type="subTitle"/>
          </p:nvPr>
        </p:nvSpPr>
        <p:spPr>
          <a:xfrm>
            <a:off x="721200" y="1396800"/>
            <a:ext cx="7686600" cy="207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	</a:t>
            </a:r>
            <a:endParaRPr sz="1300"/>
          </a:p>
          <a:p>
            <a:pPr indent="457200" lvl="0" marL="0" rtl="0" algn="l">
              <a:spcBef>
                <a:spcPts val="0"/>
              </a:spcBef>
              <a:spcAft>
                <a:spcPts val="0"/>
              </a:spcAft>
              <a:buNone/>
            </a:pPr>
            <a:r>
              <a:rPr lang="en" sz="1300"/>
              <a:t>Achieving algorithmic fairness and diversity</a:t>
            </a:r>
            <a:endParaRPr sz="1300"/>
          </a:p>
          <a:p>
            <a:pPr indent="457200" lvl="0" marL="0" rtl="0" algn="l">
              <a:spcBef>
                <a:spcPts val="0"/>
              </a:spcBef>
              <a:spcAft>
                <a:spcPts val="0"/>
              </a:spcAft>
              <a:buNone/>
            </a:pPr>
            <a:r>
              <a:t/>
            </a:r>
            <a:endParaRPr sz="1300"/>
          </a:p>
          <a:p>
            <a:pPr indent="457200" lvl="0" marL="0" rtl="0" algn="l">
              <a:spcBef>
                <a:spcPts val="0"/>
              </a:spcBef>
              <a:spcAft>
                <a:spcPts val="0"/>
              </a:spcAft>
              <a:buNone/>
            </a:pPr>
            <a:r>
              <a:t/>
            </a:r>
            <a:endParaRPr sz="1300"/>
          </a:p>
          <a:p>
            <a:pPr indent="457200" lvl="0" marL="0" rtl="0" algn="l">
              <a:spcBef>
                <a:spcPts val="0"/>
              </a:spcBef>
              <a:spcAft>
                <a:spcPts val="0"/>
              </a:spcAft>
              <a:buNone/>
            </a:pPr>
            <a:r>
              <a:rPr lang="en" sz="1300"/>
              <a:t>Considering the influence of human actions</a:t>
            </a:r>
            <a:endParaRPr sz="1300"/>
          </a:p>
          <a:p>
            <a:pPr indent="0" lvl="0" marL="0" rtl="0" algn="l">
              <a:spcBef>
                <a:spcPts val="0"/>
              </a:spcBef>
              <a:spcAft>
                <a:spcPts val="0"/>
              </a:spcAft>
              <a:buNone/>
            </a:pPr>
            <a:r>
              <a:t/>
            </a:r>
            <a:endParaRPr sz="1300"/>
          </a:p>
          <a:p>
            <a:pPr indent="457200" lvl="0" marL="0" rtl="0" algn="l">
              <a:spcBef>
                <a:spcPts val="0"/>
              </a:spcBef>
              <a:spcAft>
                <a:spcPts val="0"/>
              </a:spcAft>
              <a:buNone/>
            </a:pPr>
            <a:r>
              <a:t/>
            </a:r>
            <a:endParaRPr sz="1300"/>
          </a:p>
          <a:p>
            <a:pPr indent="457200" lvl="0" marL="0" rtl="0" algn="l">
              <a:spcBef>
                <a:spcPts val="0"/>
              </a:spcBef>
              <a:spcAft>
                <a:spcPts val="0"/>
              </a:spcAft>
              <a:buNone/>
            </a:pPr>
            <a:r>
              <a:rPr lang="en" sz="1300"/>
              <a:t>Test on a larger dataset and compare the results with the current results</a:t>
            </a:r>
            <a:endParaRPr sz="1300"/>
          </a:p>
          <a:p>
            <a:pPr indent="457200" lvl="0" marL="0" rtl="0" algn="l">
              <a:spcBef>
                <a:spcPts val="0"/>
              </a:spcBef>
              <a:spcAft>
                <a:spcPts val="0"/>
              </a:spcAft>
              <a:buNone/>
            </a:pPr>
            <a:r>
              <a:t/>
            </a:r>
            <a:endParaRPr sz="1300"/>
          </a:p>
          <a:p>
            <a:pPr indent="0" lvl="0" marL="0" rtl="0" algn="l">
              <a:spcBef>
                <a:spcPts val="0"/>
              </a:spcBef>
              <a:spcAft>
                <a:spcPts val="0"/>
              </a:spcAft>
              <a:buNone/>
            </a:pPr>
            <a:r>
              <a:rPr lang="en" sz="1300"/>
              <a:t>	</a:t>
            </a:r>
            <a:endParaRPr sz="1300"/>
          </a:p>
          <a:p>
            <a:pPr indent="0" lvl="0" marL="0" rtl="0" algn="l">
              <a:spcBef>
                <a:spcPts val="0"/>
              </a:spcBef>
              <a:spcAft>
                <a:spcPts val="0"/>
              </a:spcAft>
              <a:buNone/>
            </a:pPr>
            <a:r>
              <a:t/>
            </a:r>
            <a:endParaRPr sz="1300"/>
          </a:p>
          <a:p>
            <a:pPr indent="457200" lvl="0" marL="0" rtl="0" algn="l">
              <a:spcBef>
                <a:spcPts val="0"/>
              </a:spcBef>
              <a:spcAft>
                <a:spcPts val="0"/>
              </a:spcAft>
              <a:buNone/>
            </a:pPr>
            <a:r>
              <a:t/>
            </a:r>
            <a:endParaRPr sz="1300"/>
          </a:p>
          <a:p>
            <a:pPr indent="457200" lvl="0" marL="0" rtl="0" algn="l">
              <a:spcBef>
                <a:spcPts val="0"/>
              </a:spcBef>
              <a:spcAft>
                <a:spcPts val="0"/>
              </a:spcAft>
              <a:buNone/>
            </a:pPr>
            <a:r>
              <a:t/>
            </a:r>
            <a:endParaRPr sz="1300"/>
          </a:p>
          <a:p>
            <a:pPr indent="457200" lvl="0" marL="0" rtl="0" algn="l">
              <a:spcBef>
                <a:spcPts val="0"/>
              </a:spcBef>
              <a:spcAft>
                <a:spcPts val="0"/>
              </a:spcAft>
              <a:buNone/>
            </a:pPr>
            <a:r>
              <a:t/>
            </a:r>
            <a:endParaRPr sz="1300"/>
          </a:p>
        </p:txBody>
      </p:sp>
      <p:grpSp>
        <p:nvGrpSpPr>
          <p:cNvPr id="319" name="Google Shape;319;p50"/>
          <p:cNvGrpSpPr/>
          <p:nvPr/>
        </p:nvGrpSpPr>
        <p:grpSpPr>
          <a:xfrm>
            <a:off x="797117" y="1550626"/>
            <a:ext cx="346035" cy="369900"/>
            <a:chOff x="6219391" y="3915357"/>
            <a:chExt cx="356627" cy="471751"/>
          </a:xfrm>
        </p:grpSpPr>
        <p:sp>
          <p:nvSpPr>
            <p:cNvPr id="320" name="Google Shape;320;p50"/>
            <p:cNvSpPr/>
            <p:nvPr/>
          </p:nvSpPr>
          <p:spPr>
            <a:xfrm>
              <a:off x="6219391" y="4052856"/>
              <a:ext cx="306594" cy="334252"/>
            </a:xfrm>
            <a:custGeom>
              <a:rect b="b" l="l" r="r" t="t"/>
              <a:pathLst>
                <a:path extrusionOk="0" h="10502" w="9633">
                  <a:moveTo>
                    <a:pt x="8394" y="4179"/>
                  </a:moveTo>
                  <a:cubicBezTo>
                    <a:pt x="8906" y="4251"/>
                    <a:pt x="9299" y="4703"/>
                    <a:pt x="9299" y="5239"/>
                  </a:cubicBezTo>
                  <a:cubicBezTo>
                    <a:pt x="9299" y="5775"/>
                    <a:pt x="8906" y="6215"/>
                    <a:pt x="8394" y="6299"/>
                  </a:cubicBezTo>
                  <a:lnTo>
                    <a:pt x="8394" y="4179"/>
                  </a:lnTo>
                  <a:close/>
                  <a:moveTo>
                    <a:pt x="1203" y="4013"/>
                  </a:moveTo>
                  <a:lnTo>
                    <a:pt x="1203" y="6489"/>
                  </a:lnTo>
                  <a:lnTo>
                    <a:pt x="846" y="6489"/>
                  </a:lnTo>
                  <a:cubicBezTo>
                    <a:pt x="548" y="6489"/>
                    <a:pt x="310" y="6251"/>
                    <a:pt x="310" y="5953"/>
                  </a:cubicBezTo>
                  <a:lnTo>
                    <a:pt x="310" y="4549"/>
                  </a:lnTo>
                  <a:cubicBezTo>
                    <a:pt x="310" y="4251"/>
                    <a:pt x="548" y="4013"/>
                    <a:pt x="846" y="4013"/>
                  </a:cubicBezTo>
                  <a:close/>
                  <a:moveTo>
                    <a:pt x="2596" y="4001"/>
                  </a:moveTo>
                  <a:lnTo>
                    <a:pt x="2596" y="6489"/>
                  </a:lnTo>
                  <a:lnTo>
                    <a:pt x="1525" y="6489"/>
                  </a:lnTo>
                  <a:lnTo>
                    <a:pt x="1525" y="4001"/>
                  </a:lnTo>
                  <a:close/>
                  <a:moveTo>
                    <a:pt x="2799" y="7692"/>
                  </a:moveTo>
                  <a:lnTo>
                    <a:pt x="2799" y="8418"/>
                  </a:lnTo>
                  <a:lnTo>
                    <a:pt x="2477" y="8418"/>
                  </a:lnTo>
                  <a:lnTo>
                    <a:pt x="2679" y="7692"/>
                  </a:lnTo>
                  <a:close/>
                  <a:moveTo>
                    <a:pt x="2560" y="6811"/>
                  </a:moveTo>
                  <a:lnTo>
                    <a:pt x="1941" y="9121"/>
                  </a:lnTo>
                  <a:lnTo>
                    <a:pt x="1525" y="9121"/>
                  </a:lnTo>
                  <a:lnTo>
                    <a:pt x="1525" y="6811"/>
                  </a:lnTo>
                  <a:close/>
                  <a:moveTo>
                    <a:pt x="8061" y="310"/>
                  </a:moveTo>
                  <a:lnTo>
                    <a:pt x="8061" y="10180"/>
                  </a:lnTo>
                  <a:lnTo>
                    <a:pt x="7335" y="10180"/>
                  </a:lnTo>
                  <a:lnTo>
                    <a:pt x="7335" y="3227"/>
                  </a:lnTo>
                  <a:cubicBezTo>
                    <a:pt x="7335" y="3132"/>
                    <a:pt x="7251" y="3060"/>
                    <a:pt x="7168" y="3060"/>
                  </a:cubicBezTo>
                  <a:cubicBezTo>
                    <a:pt x="7085" y="3060"/>
                    <a:pt x="7001" y="3132"/>
                    <a:pt x="7001" y="3227"/>
                  </a:cubicBezTo>
                  <a:lnTo>
                    <a:pt x="7001" y="9085"/>
                  </a:lnTo>
                  <a:cubicBezTo>
                    <a:pt x="6799" y="8811"/>
                    <a:pt x="6489" y="8406"/>
                    <a:pt x="6085" y="8013"/>
                  </a:cubicBezTo>
                  <a:cubicBezTo>
                    <a:pt x="5620" y="7573"/>
                    <a:pt x="5144" y="7216"/>
                    <a:pt x="4656" y="6966"/>
                  </a:cubicBezTo>
                  <a:cubicBezTo>
                    <a:pt x="4084" y="6668"/>
                    <a:pt x="3525" y="6501"/>
                    <a:pt x="2941" y="6489"/>
                  </a:cubicBezTo>
                  <a:lnTo>
                    <a:pt x="2941" y="4001"/>
                  </a:lnTo>
                  <a:cubicBezTo>
                    <a:pt x="3525" y="3965"/>
                    <a:pt x="4084" y="3810"/>
                    <a:pt x="4656" y="3525"/>
                  </a:cubicBezTo>
                  <a:cubicBezTo>
                    <a:pt x="5144" y="3275"/>
                    <a:pt x="5620" y="2917"/>
                    <a:pt x="6085" y="2465"/>
                  </a:cubicBezTo>
                  <a:cubicBezTo>
                    <a:pt x="6489" y="2084"/>
                    <a:pt x="6799" y="1679"/>
                    <a:pt x="7001" y="1393"/>
                  </a:cubicBezTo>
                  <a:lnTo>
                    <a:pt x="7001" y="2441"/>
                  </a:lnTo>
                  <a:cubicBezTo>
                    <a:pt x="7001" y="2524"/>
                    <a:pt x="7085" y="2596"/>
                    <a:pt x="7168" y="2596"/>
                  </a:cubicBezTo>
                  <a:cubicBezTo>
                    <a:pt x="7251" y="2596"/>
                    <a:pt x="7335" y="2524"/>
                    <a:pt x="7335" y="2441"/>
                  </a:cubicBezTo>
                  <a:lnTo>
                    <a:pt x="7335" y="310"/>
                  </a:lnTo>
                  <a:close/>
                  <a:moveTo>
                    <a:pt x="7168" y="0"/>
                  </a:moveTo>
                  <a:cubicBezTo>
                    <a:pt x="7085" y="0"/>
                    <a:pt x="7001" y="72"/>
                    <a:pt x="7001" y="167"/>
                  </a:cubicBezTo>
                  <a:lnTo>
                    <a:pt x="7001" y="822"/>
                  </a:lnTo>
                  <a:cubicBezTo>
                    <a:pt x="6906" y="977"/>
                    <a:pt x="6489" y="1620"/>
                    <a:pt x="5847" y="2251"/>
                  </a:cubicBezTo>
                  <a:cubicBezTo>
                    <a:pt x="5156" y="2905"/>
                    <a:pt x="4084" y="3691"/>
                    <a:pt x="2775" y="3691"/>
                  </a:cubicBezTo>
                  <a:lnTo>
                    <a:pt x="858" y="3691"/>
                  </a:lnTo>
                  <a:cubicBezTo>
                    <a:pt x="382" y="3691"/>
                    <a:pt x="1" y="4072"/>
                    <a:pt x="1" y="4549"/>
                  </a:cubicBezTo>
                  <a:lnTo>
                    <a:pt x="1" y="5953"/>
                  </a:lnTo>
                  <a:cubicBezTo>
                    <a:pt x="1" y="6430"/>
                    <a:pt x="382" y="6811"/>
                    <a:pt x="858" y="6811"/>
                  </a:cubicBezTo>
                  <a:lnTo>
                    <a:pt x="1215" y="6811"/>
                  </a:lnTo>
                  <a:lnTo>
                    <a:pt x="1215" y="9287"/>
                  </a:lnTo>
                  <a:cubicBezTo>
                    <a:pt x="1215" y="9371"/>
                    <a:pt x="1286" y="9454"/>
                    <a:pt x="1382" y="9454"/>
                  </a:cubicBezTo>
                  <a:lnTo>
                    <a:pt x="2084" y="9454"/>
                  </a:lnTo>
                  <a:cubicBezTo>
                    <a:pt x="2156" y="9454"/>
                    <a:pt x="2215" y="9406"/>
                    <a:pt x="2239" y="9335"/>
                  </a:cubicBezTo>
                  <a:lnTo>
                    <a:pt x="2394" y="8751"/>
                  </a:lnTo>
                  <a:lnTo>
                    <a:pt x="2953" y="8751"/>
                  </a:lnTo>
                  <a:cubicBezTo>
                    <a:pt x="3049" y="8751"/>
                    <a:pt x="3120" y="8680"/>
                    <a:pt x="3120" y="8585"/>
                  </a:cubicBezTo>
                  <a:lnTo>
                    <a:pt x="3120" y="7525"/>
                  </a:lnTo>
                  <a:cubicBezTo>
                    <a:pt x="3120" y="7442"/>
                    <a:pt x="3049" y="7370"/>
                    <a:pt x="2953" y="7370"/>
                  </a:cubicBezTo>
                  <a:lnTo>
                    <a:pt x="2763" y="7370"/>
                  </a:lnTo>
                  <a:lnTo>
                    <a:pt x="2918" y="6811"/>
                  </a:lnTo>
                  <a:cubicBezTo>
                    <a:pt x="4168" y="6858"/>
                    <a:pt x="5192" y="7620"/>
                    <a:pt x="5858" y="8263"/>
                  </a:cubicBezTo>
                  <a:cubicBezTo>
                    <a:pt x="6513" y="8882"/>
                    <a:pt x="6930" y="9525"/>
                    <a:pt x="7025" y="9692"/>
                  </a:cubicBezTo>
                  <a:lnTo>
                    <a:pt x="7025" y="10347"/>
                  </a:lnTo>
                  <a:cubicBezTo>
                    <a:pt x="7025" y="10430"/>
                    <a:pt x="7097" y="10502"/>
                    <a:pt x="7180" y="10502"/>
                  </a:cubicBezTo>
                  <a:lnTo>
                    <a:pt x="8240" y="10502"/>
                  </a:lnTo>
                  <a:cubicBezTo>
                    <a:pt x="8335" y="10502"/>
                    <a:pt x="8406" y="10430"/>
                    <a:pt x="8406" y="10347"/>
                  </a:cubicBezTo>
                  <a:lnTo>
                    <a:pt x="8406" y="6632"/>
                  </a:lnTo>
                  <a:cubicBezTo>
                    <a:pt x="9109" y="6549"/>
                    <a:pt x="9633" y="5965"/>
                    <a:pt x="9633" y="5251"/>
                  </a:cubicBezTo>
                  <a:cubicBezTo>
                    <a:pt x="9621" y="4537"/>
                    <a:pt x="9085" y="3941"/>
                    <a:pt x="8394" y="3870"/>
                  </a:cubicBezTo>
                  <a:lnTo>
                    <a:pt x="8394" y="167"/>
                  </a:lnTo>
                  <a:cubicBezTo>
                    <a:pt x="8394" y="72"/>
                    <a:pt x="8311" y="0"/>
                    <a:pt x="8228" y="0"/>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321" name="Google Shape;321;p50"/>
            <p:cNvSpPr/>
            <p:nvPr/>
          </p:nvSpPr>
          <p:spPr>
            <a:xfrm>
              <a:off x="6549060" y="3978567"/>
              <a:ext cx="26958" cy="10630"/>
            </a:xfrm>
            <a:custGeom>
              <a:rect b="b" l="l" r="r" t="t"/>
              <a:pathLst>
                <a:path extrusionOk="0" h="334" w="847">
                  <a:moveTo>
                    <a:pt x="156" y="0"/>
                  </a:moveTo>
                  <a:cubicBezTo>
                    <a:pt x="72" y="0"/>
                    <a:pt x="1" y="84"/>
                    <a:pt x="1" y="167"/>
                  </a:cubicBezTo>
                  <a:cubicBezTo>
                    <a:pt x="1" y="262"/>
                    <a:pt x="72" y="334"/>
                    <a:pt x="156" y="334"/>
                  </a:cubicBezTo>
                  <a:lnTo>
                    <a:pt x="680" y="334"/>
                  </a:lnTo>
                  <a:cubicBezTo>
                    <a:pt x="763" y="334"/>
                    <a:pt x="846" y="262"/>
                    <a:pt x="846" y="167"/>
                  </a:cubicBezTo>
                  <a:cubicBezTo>
                    <a:pt x="846" y="84"/>
                    <a:pt x="775" y="0"/>
                    <a:pt x="680" y="0"/>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322" name="Google Shape;322;p50"/>
            <p:cNvSpPr/>
            <p:nvPr/>
          </p:nvSpPr>
          <p:spPr>
            <a:xfrm>
              <a:off x="6525572" y="3915357"/>
              <a:ext cx="24666" cy="22311"/>
            </a:xfrm>
            <a:custGeom>
              <a:rect b="b" l="l" r="r" t="t"/>
              <a:pathLst>
                <a:path extrusionOk="0" h="701" w="775">
                  <a:moveTo>
                    <a:pt x="605" y="1"/>
                  </a:moveTo>
                  <a:cubicBezTo>
                    <a:pt x="563" y="1"/>
                    <a:pt x="519" y="16"/>
                    <a:pt x="477" y="46"/>
                  </a:cubicBezTo>
                  <a:lnTo>
                    <a:pt x="108" y="415"/>
                  </a:lnTo>
                  <a:cubicBezTo>
                    <a:pt x="1" y="522"/>
                    <a:pt x="84" y="700"/>
                    <a:pt x="227" y="700"/>
                  </a:cubicBezTo>
                  <a:cubicBezTo>
                    <a:pt x="275" y="700"/>
                    <a:pt x="322" y="677"/>
                    <a:pt x="346" y="653"/>
                  </a:cubicBezTo>
                  <a:lnTo>
                    <a:pt x="715" y="284"/>
                  </a:lnTo>
                  <a:cubicBezTo>
                    <a:pt x="775" y="224"/>
                    <a:pt x="775" y="117"/>
                    <a:pt x="715" y="46"/>
                  </a:cubicBezTo>
                  <a:cubicBezTo>
                    <a:pt x="685" y="16"/>
                    <a:pt x="647" y="1"/>
                    <a:pt x="605" y="1"/>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323" name="Google Shape;323;p50"/>
            <p:cNvSpPr/>
            <p:nvPr/>
          </p:nvSpPr>
          <p:spPr>
            <a:xfrm>
              <a:off x="6527099" y="4030191"/>
              <a:ext cx="23139" cy="22661"/>
            </a:xfrm>
            <a:custGeom>
              <a:rect b="b" l="l" r="r" t="t"/>
              <a:pathLst>
                <a:path extrusionOk="0" h="712" w="727">
                  <a:moveTo>
                    <a:pt x="183" y="1"/>
                  </a:moveTo>
                  <a:cubicBezTo>
                    <a:pt x="140" y="1"/>
                    <a:pt x="96" y="15"/>
                    <a:pt x="60" y="45"/>
                  </a:cubicBezTo>
                  <a:cubicBezTo>
                    <a:pt x="0" y="105"/>
                    <a:pt x="0" y="212"/>
                    <a:pt x="60" y="283"/>
                  </a:cubicBezTo>
                  <a:lnTo>
                    <a:pt x="429" y="664"/>
                  </a:lnTo>
                  <a:cubicBezTo>
                    <a:pt x="466" y="696"/>
                    <a:pt x="505" y="711"/>
                    <a:pt x="543" y="711"/>
                  </a:cubicBezTo>
                  <a:cubicBezTo>
                    <a:pt x="590" y="711"/>
                    <a:pt x="634" y="687"/>
                    <a:pt x="667" y="641"/>
                  </a:cubicBezTo>
                  <a:cubicBezTo>
                    <a:pt x="727" y="569"/>
                    <a:pt x="727" y="486"/>
                    <a:pt x="667" y="426"/>
                  </a:cubicBezTo>
                  <a:lnTo>
                    <a:pt x="298" y="45"/>
                  </a:lnTo>
                  <a:cubicBezTo>
                    <a:pt x="268" y="15"/>
                    <a:pt x="227" y="1"/>
                    <a:pt x="183" y="1"/>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grpSp>
      <p:grpSp>
        <p:nvGrpSpPr>
          <p:cNvPr id="324" name="Google Shape;324;p50"/>
          <p:cNvGrpSpPr/>
          <p:nvPr/>
        </p:nvGrpSpPr>
        <p:grpSpPr>
          <a:xfrm>
            <a:off x="797117" y="2136576"/>
            <a:ext cx="346035" cy="369900"/>
            <a:chOff x="6219391" y="3915357"/>
            <a:chExt cx="356627" cy="471751"/>
          </a:xfrm>
        </p:grpSpPr>
        <p:sp>
          <p:nvSpPr>
            <p:cNvPr id="325" name="Google Shape;325;p50"/>
            <p:cNvSpPr/>
            <p:nvPr/>
          </p:nvSpPr>
          <p:spPr>
            <a:xfrm>
              <a:off x="6219391" y="4052856"/>
              <a:ext cx="306594" cy="334252"/>
            </a:xfrm>
            <a:custGeom>
              <a:rect b="b" l="l" r="r" t="t"/>
              <a:pathLst>
                <a:path extrusionOk="0" h="10502" w="9633">
                  <a:moveTo>
                    <a:pt x="8394" y="4179"/>
                  </a:moveTo>
                  <a:cubicBezTo>
                    <a:pt x="8906" y="4251"/>
                    <a:pt x="9299" y="4703"/>
                    <a:pt x="9299" y="5239"/>
                  </a:cubicBezTo>
                  <a:cubicBezTo>
                    <a:pt x="9299" y="5775"/>
                    <a:pt x="8906" y="6215"/>
                    <a:pt x="8394" y="6299"/>
                  </a:cubicBezTo>
                  <a:lnTo>
                    <a:pt x="8394" y="4179"/>
                  </a:lnTo>
                  <a:close/>
                  <a:moveTo>
                    <a:pt x="1203" y="4013"/>
                  </a:moveTo>
                  <a:lnTo>
                    <a:pt x="1203" y="6489"/>
                  </a:lnTo>
                  <a:lnTo>
                    <a:pt x="846" y="6489"/>
                  </a:lnTo>
                  <a:cubicBezTo>
                    <a:pt x="548" y="6489"/>
                    <a:pt x="310" y="6251"/>
                    <a:pt x="310" y="5953"/>
                  </a:cubicBezTo>
                  <a:lnTo>
                    <a:pt x="310" y="4549"/>
                  </a:lnTo>
                  <a:cubicBezTo>
                    <a:pt x="310" y="4251"/>
                    <a:pt x="548" y="4013"/>
                    <a:pt x="846" y="4013"/>
                  </a:cubicBezTo>
                  <a:close/>
                  <a:moveTo>
                    <a:pt x="2596" y="4001"/>
                  </a:moveTo>
                  <a:lnTo>
                    <a:pt x="2596" y="6489"/>
                  </a:lnTo>
                  <a:lnTo>
                    <a:pt x="1525" y="6489"/>
                  </a:lnTo>
                  <a:lnTo>
                    <a:pt x="1525" y="4001"/>
                  </a:lnTo>
                  <a:close/>
                  <a:moveTo>
                    <a:pt x="2799" y="7692"/>
                  </a:moveTo>
                  <a:lnTo>
                    <a:pt x="2799" y="8418"/>
                  </a:lnTo>
                  <a:lnTo>
                    <a:pt x="2477" y="8418"/>
                  </a:lnTo>
                  <a:lnTo>
                    <a:pt x="2679" y="7692"/>
                  </a:lnTo>
                  <a:close/>
                  <a:moveTo>
                    <a:pt x="2560" y="6811"/>
                  </a:moveTo>
                  <a:lnTo>
                    <a:pt x="1941" y="9121"/>
                  </a:lnTo>
                  <a:lnTo>
                    <a:pt x="1525" y="9121"/>
                  </a:lnTo>
                  <a:lnTo>
                    <a:pt x="1525" y="6811"/>
                  </a:lnTo>
                  <a:close/>
                  <a:moveTo>
                    <a:pt x="8061" y="310"/>
                  </a:moveTo>
                  <a:lnTo>
                    <a:pt x="8061" y="10180"/>
                  </a:lnTo>
                  <a:lnTo>
                    <a:pt x="7335" y="10180"/>
                  </a:lnTo>
                  <a:lnTo>
                    <a:pt x="7335" y="3227"/>
                  </a:lnTo>
                  <a:cubicBezTo>
                    <a:pt x="7335" y="3132"/>
                    <a:pt x="7251" y="3060"/>
                    <a:pt x="7168" y="3060"/>
                  </a:cubicBezTo>
                  <a:cubicBezTo>
                    <a:pt x="7085" y="3060"/>
                    <a:pt x="7001" y="3132"/>
                    <a:pt x="7001" y="3227"/>
                  </a:cubicBezTo>
                  <a:lnTo>
                    <a:pt x="7001" y="9085"/>
                  </a:lnTo>
                  <a:cubicBezTo>
                    <a:pt x="6799" y="8811"/>
                    <a:pt x="6489" y="8406"/>
                    <a:pt x="6085" y="8013"/>
                  </a:cubicBezTo>
                  <a:cubicBezTo>
                    <a:pt x="5620" y="7573"/>
                    <a:pt x="5144" y="7216"/>
                    <a:pt x="4656" y="6966"/>
                  </a:cubicBezTo>
                  <a:cubicBezTo>
                    <a:pt x="4084" y="6668"/>
                    <a:pt x="3525" y="6501"/>
                    <a:pt x="2941" y="6489"/>
                  </a:cubicBezTo>
                  <a:lnTo>
                    <a:pt x="2941" y="4001"/>
                  </a:lnTo>
                  <a:cubicBezTo>
                    <a:pt x="3525" y="3965"/>
                    <a:pt x="4084" y="3810"/>
                    <a:pt x="4656" y="3525"/>
                  </a:cubicBezTo>
                  <a:cubicBezTo>
                    <a:pt x="5144" y="3275"/>
                    <a:pt x="5620" y="2917"/>
                    <a:pt x="6085" y="2465"/>
                  </a:cubicBezTo>
                  <a:cubicBezTo>
                    <a:pt x="6489" y="2084"/>
                    <a:pt x="6799" y="1679"/>
                    <a:pt x="7001" y="1393"/>
                  </a:cubicBezTo>
                  <a:lnTo>
                    <a:pt x="7001" y="2441"/>
                  </a:lnTo>
                  <a:cubicBezTo>
                    <a:pt x="7001" y="2524"/>
                    <a:pt x="7085" y="2596"/>
                    <a:pt x="7168" y="2596"/>
                  </a:cubicBezTo>
                  <a:cubicBezTo>
                    <a:pt x="7251" y="2596"/>
                    <a:pt x="7335" y="2524"/>
                    <a:pt x="7335" y="2441"/>
                  </a:cubicBezTo>
                  <a:lnTo>
                    <a:pt x="7335" y="310"/>
                  </a:lnTo>
                  <a:close/>
                  <a:moveTo>
                    <a:pt x="7168" y="0"/>
                  </a:moveTo>
                  <a:cubicBezTo>
                    <a:pt x="7085" y="0"/>
                    <a:pt x="7001" y="72"/>
                    <a:pt x="7001" y="167"/>
                  </a:cubicBezTo>
                  <a:lnTo>
                    <a:pt x="7001" y="822"/>
                  </a:lnTo>
                  <a:cubicBezTo>
                    <a:pt x="6906" y="977"/>
                    <a:pt x="6489" y="1620"/>
                    <a:pt x="5847" y="2251"/>
                  </a:cubicBezTo>
                  <a:cubicBezTo>
                    <a:pt x="5156" y="2905"/>
                    <a:pt x="4084" y="3691"/>
                    <a:pt x="2775" y="3691"/>
                  </a:cubicBezTo>
                  <a:lnTo>
                    <a:pt x="858" y="3691"/>
                  </a:lnTo>
                  <a:cubicBezTo>
                    <a:pt x="382" y="3691"/>
                    <a:pt x="1" y="4072"/>
                    <a:pt x="1" y="4549"/>
                  </a:cubicBezTo>
                  <a:lnTo>
                    <a:pt x="1" y="5953"/>
                  </a:lnTo>
                  <a:cubicBezTo>
                    <a:pt x="1" y="6430"/>
                    <a:pt x="382" y="6811"/>
                    <a:pt x="858" y="6811"/>
                  </a:cubicBezTo>
                  <a:lnTo>
                    <a:pt x="1215" y="6811"/>
                  </a:lnTo>
                  <a:lnTo>
                    <a:pt x="1215" y="9287"/>
                  </a:lnTo>
                  <a:cubicBezTo>
                    <a:pt x="1215" y="9371"/>
                    <a:pt x="1286" y="9454"/>
                    <a:pt x="1382" y="9454"/>
                  </a:cubicBezTo>
                  <a:lnTo>
                    <a:pt x="2084" y="9454"/>
                  </a:lnTo>
                  <a:cubicBezTo>
                    <a:pt x="2156" y="9454"/>
                    <a:pt x="2215" y="9406"/>
                    <a:pt x="2239" y="9335"/>
                  </a:cubicBezTo>
                  <a:lnTo>
                    <a:pt x="2394" y="8751"/>
                  </a:lnTo>
                  <a:lnTo>
                    <a:pt x="2953" y="8751"/>
                  </a:lnTo>
                  <a:cubicBezTo>
                    <a:pt x="3049" y="8751"/>
                    <a:pt x="3120" y="8680"/>
                    <a:pt x="3120" y="8585"/>
                  </a:cubicBezTo>
                  <a:lnTo>
                    <a:pt x="3120" y="7525"/>
                  </a:lnTo>
                  <a:cubicBezTo>
                    <a:pt x="3120" y="7442"/>
                    <a:pt x="3049" y="7370"/>
                    <a:pt x="2953" y="7370"/>
                  </a:cubicBezTo>
                  <a:lnTo>
                    <a:pt x="2763" y="7370"/>
                  </a:lnTo>
                  <a:lnTo>
                    <a:pt x="2918" y="6811"/>
                  </a:lnTo>
                  <a:cubicBezTo>
                    <a:pt x="4168" y="6858"/>
                    <a:pt x="5192" y="7620"/>
                    <a:pt x="5858" y="8263"/>
                  </a:cubicBezTo>
                  <a:cubicBezTo>
                    <a:pt x="6513" y="8882"/>
                    <a:pt x="6930" y="9525"/>
                    <a:pt x="7025" y="9692"/>
                  </a:cubicBezTo>
                  <a:lnTo>
                    <a:pt x="7025" y="10347"/>
                  </a:lnTo>
                  <a:cubicBezTo>
                    <a:pt x="7025" y="10430"/>
                    <a:pt x="7097" y="10502"/>
                    <a:pt x="7180" y="10502"/>
                  </a:cubicBezTo>
                  <a:lnTo>
                    <a:pt x="8240" y="10502"/>
                  </a:lnTo>
                  <a:cubicBezTo>
                    <a:pt x="8335" y="10502"/>
                    <a:pt x="8406" y="10430"/>
                    <a:pt x="8406" y="10347"/>
                  </a:cubicBezTo>
                  <a:lnTo>
                    <a:pt x="8406" y="6632"/>
                  </a:lnTo>
                  <a:cubicBezTo>
                    <a:pt x="9109" y="6549"/>
                    <a:pt x="9633" y="5965"/>
                    <a:pt x="9633" y="5251"/>
                  </a:cubicBezTo>
                  <a:cubicBezTo>
                    <a:pt x="9621" y="4537"/>
                    <a:pt x="9085" y="3941"/>
                    <a:pt x="8394" y="3870"/>
                  </a:cubicBezTo>
                  <a:lnTo>
                    <a:pt x="8394" y="167"/>
                  </a:lnTo>
                  <a:cubicBezTo>
                    <a:pt x="8394" y="72"/>
                    <a:pt x="8311" y="0"/>
                    <a:pt x="8228" y="0"/>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326" name="Google Shape;326;p50"/>
            <p:cNvSpPr/>
            <p:nvPr/>
          </p:nvSpPr>
          <p:spPr>
            <a:xfrm>
              <a:off x="6549060" y="3978567"/>
              <a:ext cx="26958" cy="10630"/>
            </a:xfrm>
            <a:custGeom>
              <a:rect b="b" l="l" r="r" t="t"/>
              <a:pathLst>
                <a:path extrusionOk="0" h="334" w="847">
                  <a:moveTo>
                    <a:pt x="156" y="0"/>
                  </a:moveTo>
                  <a:cubicBezTo>
                    <a:pt x="72" y="0"/>
                    <a:pt x="1" y="84"/>
                    <a:pt x="1" y="167"/>
                  </a:cubicBezTo>
                  <a:cubicBezTo>
                    <a:pt x="1" y="262"/>
                    <a:pt x="72" y="334"/>
                    <a:pt x="156" y="334"/>
                  </a:cubicBezTo>
                  <a:lnTo>
                    <a:pt x="680" y="334"/>
                  </a:lnTo>
                  <a:cubicBezTo>
                    <a:pt x="763" y="334"/>
                    <a:pt x="846" y="262"/>
                    <a:pt x="846" y="167"/>
                  </a:cubicBezTo>
                  <a:cubicBezTo>
                    <a:pt x="846" y="84"/>
                    <a:pt x="775" y="0"/>
                    <a:pt x="680" y="0"/>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327" name="Google Shape;327;p50"/>
            <p:cNvSpPr/>
            <p:nvPr/>
          </p:nvSpPr>
          <p:spPr>
            <a:xfrm>
              <a:off x="6525572" y="3915357"/>
              <a:ext cx="24666" cy="22311"/>
            </a:xfrm>
            <a:custGeom>
              <a:rect b="b" l="l" r="r" t="t"/>
              <a:pathLst>
                <a:path extrusionOk="0" h="701" w="775">
                  <a:moveTo>
                    <a:pt x="605" y="1"/>
                  </a:moveTo>
                  <a:cubicBezTo>
                    <a:pt x="563" y="1"/>
                    <a:pt x="519" y="16"/>
                    <a:pt x="477" y="46"/>
                  </a:cubicBezTo>
                  <a:lnTo>
                    <a:pt x="108" y="415"/>
                  </a:lnTo>
                  <a:cubicBezTo>
                    <a:pt x="1" y="522"/>
                    <a:pt x="84" y="700"/>
                    <a:pt x="227" y="700"/>
                  </a:cubicBezTo>
                  <a:cubicBezTo>
                    <a:pt x="275" y="700"/>
                    <a:pt x="322" y="677"/>
                    <a:pt x="346" y="653"/>
                  </a:cubicBezTo>
                  <a:lnTo>
                    <a:pt x="715" y="284"/>
                  </a:lnTo>
                  <a:cubicBezTo>
                    <a:pt x="775" y="224"/>
                    <a:pt x="775" y="117"/>
                    <a:pt x="715" y="46"/>
                  </a:cubicBezTo>
                  <a:cubicBezTo>
                    <a:pt x="685" y="16"/>
                    <a:pt x="647" y="1"/>
                    <a:pt x="605" y="1"/>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328" name="Google Shape;328;p50"/>
            <p:cNvSpPr/>
            <p:nvPr/>
          </p:nvSpPr>
          <p:spPr>
            <a:xfrm>
              <a:off x="6527099" y="4030191"/>
              <a:ext cx="23139" cy="22661"/>
            </a:xfrm>
            <a:custGeom>
              <a:rect b="b" l="l" r="r" t="t"/>
              <a:pathLst>
                <a:path extrusionOk="0" h="712" w="727">
                  <a:moveTo>
                    <a:pt x="183" y="1"/>
                  </a:moveTo>
                  <a:cubicBezTo>
                    <a:pt x="140" y="1"/>
                    <a:pt x="96" y="15"/>
                    <a:pt x="60" y="45"/>
                  </a:cubicBezTo>
                  <a:cubicBezTo>
                    <a:pt x="0" y="105"/>
                    <a:pt x="0" y="212"/>
                    <a:pt x="60" y="283"/>
                  </a:cubicBezTo>
                  <a:lnTo>
                    <a:pt x="429" y="664"/>
                  </a:lnTo>
                  <a:cubicBezTo>
                    <a:pt x="466" y="696"/>
                    <a:pt x="505" y="711"/>
                    <a:pt x="543" y="711"/>
                  </a:cubicBezTo>
                  <a:cubicBezTo>
                    <a:pt x="590" y="711"/>
                    <a:pt x="634" y="687"/>
                    <a:pt x="667" y="641"/>
                  </a:cubicBezTo>
                  <a:cubicBezTo>
                    <a:pt x="727" y="569"/>
                    <a:pt x="727" y="486"/>
                    <a:pt x="667" y="426"/>
                  </a:cubicBezTo>
                  <a:lnTo>
                    <a:pt x="298" y="45"/>
                  </a:lnTo>
                  <a:cubicBezTo>
                    <a:pt x="268" y="15"/>
                    <a:pt x="227" y="1"/>
                    <a:pt x="183" y="1"/>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grpSp>
      <p:grpSp>
        <p:nvGrpSpPr>
          <p:cNvPr id="329" name="Google Shape;329;p50"/>
          <p:cNvGrpSpPr/>
          <p:nvPr/>
        </p:nvGrpSpPr>
        <p:grpSpPr>
          <a:xfrm>
            <a:off x="797117" y="2722526"/>
            <a:ext cx="346035" cy="369900"/>
            <a:chOff x="6219391" y="3915357"/>
            <a:chExt cx="356627" cy="471751"/>
          </a:xfrm>
        </p:grpSpPr>
        <p:sp>
          <p:nvSpPr>
            <p:cNvPr id="330" name="Google Shape;330;p50"/>
            <p:cNvSpPr/>
            <p:nvPr/>
          </p:nvSpPr>
          <p:spPr>
            <a:xfrm>
              <a:off x="6219391" y="4052856"/>
              <a:ext cx="306594" cy="334252"/>
            </a:xfrm>
            <a:custGeom>
              <a:rect b="b" l="l" r="r" t="t"/>
              <a:pathLst>
                <a:path extrusionOk="0" h="10502" w="9633">
                  <a:moveTo>
                    <a:pt x="8394" y="4179"/>
                  </a:moveTo>
                  <a:cubicBezTo>
                    <a:pt x="8906" y="4251"/>
                    <a:pt x="9299" y="4703"/>
                    <a:pt x="9299" y="5239"/>
                  </a:cubicBezTo>
                  <a:cubicBezTo>
                    <a:pt x="9299" y="5775"/>
                    <a:pt x="8906" y="6215"/>
                    <a:pt x="8394" y="6299"/>
                  </a:cubicBezTo>
                  <a:lnTo>
                    <a:pt x="8394" y="4179"/>
                  </a:lnTo>
                  <a:close/>
                  <a:moveTo>
                    <a:pt x="1203" y="4013"/>
                  </a:moveTo>
                  <a:lnTo>
                    <a:pt x="1203" y="6489"/>
                  </a:lnTo>
                  <a:lnTo>
                    <a:pt x="846" y="6489"/>
                  </a:lnTo>
                  <a:cubicBezTo>
                    <a:pt x="548" y="6489"/>
                    <a:pt x="310" y="6251"/>
                    <a:pt x="310" y="5953"/>
                  </a:cubicBezTo>
                  <a:lnTo>
                    <a:pt x="310" y="4549"/>
                  </a:lnTo>
                  <a:cubicBezTo>
                    <a:pt x="310" y="4251"/>
                    <a:pt x="548" y="4013"/>
                    <a:pt x="846" y="4013"/>
                  </a:cubicBezTo>
                  <a:close/>
                  <a:moveTo>
                    <a:pt x="2596" y="4001"/>
                  </a:moveTo>
                  <a:lnTo>
                    <a:pt x="2596" y="6489"/>
                  </a:lnTo>
                  <a:lnTo>
                    <a:pt x="1525" y="6489"/>
                  </a:lnTo>
                  <a:lnTo>
                    <a:pt x="1525" y="4001"/>
                  </a:lnTo>
                  <a:close/>
                  <a:moveTo>
                    <a:pt x="2799" y="7692"/>
                  </a:moveTo>
                  <a:lnTo>
                    <a:pt x="2799" y="8418"/>
                  </a:lnTo>
                  <a:lnTo>
                    <a:pt x="2477" y="8418"/>
                  </a:lnTo>
                  <a:lnTo>
                    <a:pt x="2679" y="7692"/>
                  </a:lnTo>
                  <a:close/>
                  <a:moveTo>
                    <a:pt x="2560" y="6811"/>
                  </a:moveTo>
                  <a:lnTo>
                    <a:pt x="1941" y="9121"/>
                  </a:lnTo>
                  <a:lnTo>
                    <a:pt x="1525" y="9121"/>
                  </a:lnTo>
                  <a:lnTo>
                    <a:pt x="1525" y="6811"/>
                  </a:lnTo>
                  <a:close/>
                  <a:moveTo>
                    <a:pt x="8061" y="310"/>
                  </a:moveTo>
                  <a:lnTo>
                    <a:pt x="8061" y="10180"/>
                  </a:lnTo>
                  <a:lnTo>
                    <a:pt x="7335" y="10180"/>
                  </a:lnTo>
                  <a:lnTo>
                    <a:pt x="7335" y="3227"/>
                  </a:lnTo>
                  <a:cubicBezTo>
                    <a:pt x="7335" y="3132"/>
                    <a:pt x="7251" y="3060"/>
                    <a:pt x="7168" y="3060"/>
                  </a:cubicBezTo>
                  <a:cubicBezTo>
                    <a:pt x="7085" y="3060"/>
                    <a:pt x="7001" y="3132"/>
                    <a:pt x="7001" y="3227"/>
                  </a:cubicBezTo>
                  <a:lnTo>
                    <a:pt x="7001" y="9085"/>
                  </a:lnTo>
                  <a:cubicBezTo>
                    <a:pt x="6799" y="8811"/>
                    <a:pt x="6489" y="8406"/>
                    <a:pt x="6085" y="8013"/>
                  </a:cubicBezTo>
                  <a:cubicBezTo>
                    <a:pt x="5620" y="7573"/>
                    <a:pt x="5144" y="7216"/>
                    <a:pt x="4656" y="6966"/>
                  </a:cubicBezTo>
                  <a:cubicBezTo>
                    <a:pt x="4084" y="6668"/>
                    <a:pt x="3525" y="6501"/>
                    <a:pt x="2941" y="6489"/>
                  </a:cubicBezTo>
                  <a:lnTo>
                    <a:pt x="2941" y="4001"/>
                  </a:lnTo>
                  <a:cubicBezTo>
                    <a:pt x="3525" y="3965"/>
                    <a:pt x="4084" y="3810"/>
                    <a:pt x="4656" y="3525"/>
                  </a:cubicBezTo>
                  <a:cubicBezTo>
                    <a:pt x="5144" y="3275"/>
                    <a:pt x="5620" y="2917"/>
                    <a:pt x="6085" y="2465"/>
                  </a:cubicBezTo>
                  <a:cubicBezTo>
                    <a:pt x="6489" y="2084"/>
                    <a:pt x="6799" y="1679"/>
                    <a:pt x="7001" y="1393"/>
                  </a:cubicBezTo>
                  <a:lnTo>
                    <a:pt x="7001" y="2441"/>
                  </a:lnTo>
                  <a:cubicBezTo>
                    <a:pt x="7001" y="2524"/>
                    <a:pt x="7085" y="2596"/>
                    <a:pt x="7168" y="2596"/>
                  </a:cubicBezTo>
                  <a:cubicBezTo>
                    <a:pt x="7251" y="2596"/>
                    <a:pt x="7335" y="2524"/>
                    <a:pt x="7335" y="2441"/>
                  </a:cubicBezTo>
                  <a:lnTo>
                    <a:pt x="7335" y="310"/>
                  </a:lnTo>
                  <a:close/>
                  <a:moveTo>
                    <a:pt x="7168" y="0"/>
                  </a:moveTo>
                  <a:cubicBezTo>
                    <a:pt x="7085" y="0"/>
                    <a:pt x="7001" y="72"/>
                    <a:pt x="7001" y="167"/>
                  </a:cubicBezTo>
                  <a:lnTo>
                    <a:pt x="7001" y="822"/>
                  </a:lnTo>
                  <a:cubicBezTo>
                    <a:pt x="6906" y="977"/>
                    <a:pt x="6489" y="1620"/>
                    <a:pt x="5847" y="2251"/>
                  </a:cubicBezTo>
                  <a:cubicBezTo>
                    <a:pt x="5156" y="2905"/>
                    <a:pt x="4084" y="3691"/>
                    <a:pt x="2775" y="3691"/>
                  </a:cubicBezTo>
                  <a:lnTo>
                    <a:pt x="858" y="3691"/>
                  </a:lnTo>
                  <a:cubicBezTo>
                    <a:pt x="382" y="3691"/>
                    <a:pt x="1" y="4072"/>
                    <a:pt x="1" y="4549"/>
                  </a:cubicBezTo>
                  <a:lnTo>
                    <a:pt x="1" y="5953"/>
                  </a:lnTo>
                  <a:cubicBezTo>
                    <a:pt x="1" y="6430"/>
                    <a:pt x="382" y="6811"/>
                    <a:pt x="858" y="6811"/>
                  </a:cubicBezTo>
                  <a:lnTo>
                    <a:pt x="1215" y="6811"/>
                  </a:lnTo>
                  <a:lnTo>
                    <a:pt x="1215" y="9287"/>
                  </a:lnTo>
                  <a:cubicBezTo>
                    <a:pt x="1215" y="9371"/>
                    <a:pt x="1286" y="9454"/>
                    <a:pt x="1382" y="9454"/>
                  </a:cubicBezTo>
                  <a:lnTo>
                    <a:pt x="2084" y="9454"/>
                  </a:lnTo>
                  <a:cubicBezTo>
                    <a:pt x="2156" y="9454"/>
                    <a:pt x="2215" y="9406"/>
                    <a:pt x="2239" y="9335"/>
                  </a:cubicBezTo>
                  <a:lnTo>
                    <a:pt x="2394" y="8751"/>
                  </a:lnTo>
                  <a:lnTo>
                    <a:pt x="2953" y="8751"/>
                  </a:lnTo>
                  <a:cubicBezTo>
                    <a:pt x="3049" y="8751"/>
                    <a:pt x="3120" y="8680"/>
                    <a:pt x="3120" y="8585"/>
                  </a:cubicBezTo>
                  <a:lnTo>
                    <a:pt x="3120" y="7525"/>
                  </a:lnTo>
                  <a:cubicBezTo>
                    <a:pt x="3120" y="7442"/>
                    <a:pt x="3049" y="7370"/>
                    <a:pt x="2953" y="7370"/>
                  </a:cubicBezTo>
                  <a:lnTo>
                    <a:pt x="2763" y="7370"/>
                  </a:lnTo>
                  <a:lnTo>
                    <a:pt x="2918" y="6811"/>
                  </a:lnTo>
                  <a:cubicBezTo>
                    <a:pt x="4168" y="6858"/>
                    <a:pt x="5192" y="7620"/>
                    <a:pt x="5858" y="8263"/>
                  </a:cubicBezTo>
                  <a:cubicBezTo>
                    <a:pt x="6513" y="8882"/>
                    <a:pt x="6930" y="9525"/>
                    <a:pt x="7025" y="9692"/>
                  </a:cubicBezTo>
                  <a:lnTo>
                    <a:pt x="7025" y="10347"/>
                  </a:lnTo>
                  <a:cubicBezTo>
                    <a:pt x="7025" y="10430"/>
                    <a:pt x="7097" y="10502"/>
                    <a:pt x="7180" y="10502"/>
                  </a:cubicBezTo>
                  <a:lnTo>
                    <a:pt x="8240" y="10502"/>
                  </a:lnTo>
                  <a:cubicBezTo>
                    <a:pt x="8335" y="10502"/>
                    <a:pt x="8406" y="10430"/>
                    <a:pt x="8406" y="10347"/>
                  </a:cubicBezTo>
                  <a:lnTo>
                    <a:pt x="8406" y="6632"/>
                  </a:lnTo>
                  <a:cubicBezTo>
                    <a:pt x="9109" y="6549"/>
                    <a:pt x="9633" y="5965"/>
                    <a:pt x="9633" y="5251"/>
                  </a:cubicBezTo>
                  <a:cubicBezTo>
                    <a:pt x="9621" y="4537"/>
                    <a:pt x="9085" y="3941"/>
                    <a:pt x="8394" y="3870"/>
                  </a:cubicBezTo>
                  <a:lnTo>
                    <a:pt x="8394" y="167"/>
                  </a:lnTo>
                  <a:cubicBezTo>
                    <a:pt x="8394" y="72"/>
                    <a:pt x="8311" y="0"/>
                    <a:pt x="8228" y="0"/>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331" name="Google Shape;331;p50"/>
            <p:cNvSpPr/>
            <p:nvPr/>
          </p:nvSpPr>
          <p:spPr>
            <a:xfrm>
              <a:off x="6549060" y="3978567"/>
              <a:ext cx="26958" cy="10630"/>
            </a:xfrm>
            <a:custGeom>
              <a:rect b="b" l="l" r="r" t="t"/>
              <a:pathLst>
                <a:path extrusionOk="0" h="334" w="847">
                  <a:moveTo>
                    <a:pt x="156" y="0"/>
                  </a:moveTo>
                  <a:cubicBezTo>
                    <a:pt x="72" y="0"/>
                    <a:pt x="1" y="84"/>
                    <a:pt x="1" y="167"/>
                  </a:cubicBezTo>
                  <a:cubicBezTo>
                    <a:pt x="1" y="262"/>
                    <a:pt x="72" y="334"/>
                    <a:pt x="156" y="334"/>
                  </a:cubicBezTo>
                  <a:lnTo>
                    <a:pt x="680" y="334"/>
                  </a:lnTo>
                  <a:cubicBezTo>
                    <a:pt x="763" y="334"/>
                    <a:pt x="846" y="262"/>
                    <a:pt x="846" y="167"/>
                  </a:cubicBezTo>
                  <a:cubicBezTo>
                    <a:pt x="846" y="84"/>
                    <a:pt x="775" y="0"/>
                    <a:pt x="680" y="0"/>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332" name="Google Shape;332;p50"/>
            <p:cNvSpPr/>
            <p:nvPr/>
          </p:nvSpPr>
          <p:spPr>
            <a:xfrm>
              <a:off x="6525572" y="3915357"/>
              <a:ext cx="24666" cy="22311"/>
            </a:xfrm>
            <a:custGeom>
              <a:rect b="b" l="l" r="r" t="t"/>
              <a:pathLst>
                <a:path extrusionOk="0" h="701" w="775">
                  <a:moveTo>
                    <a:pt x="605" y="1"/>
                  </a:moveTo>
                  <a:cubicBezTo>
                    <a:pt x="563" y="1"/>
                    <a:pt x="519" y="16"/>
                    <a:pt x="477" y="46"/>
                  </a:cubicBezTo>
                  <a:lnTo>
                    <a:pt x="108" y="415"/>
                  </a:lnTo>
                  <a:cubicBezTo>
                    <a:pt x="1" y="522"/>
                    <a:pt x="84" y="700"/>
                    <a:pt x="227" y="700"/>
                  </a:cubicBezTo>
                  <a:cubicBezTo>
                    <a:pt x="275" y="700"/>
                    <a:pt x="322" y="677"/>
                    <a:pt x="346" y="653"/>
                  </a:cubicBezTo>
                  <a:lnTo>
                    <a:pt x="715" y="284"/>
                  </a:lnTo>
                  <a:cubicBezTo>
                    <a:pt x="775" y="224"/>
                    <a:pt x="775" y="117"/>
                    <a:pt x="715" y="46"/>
                  </a:cubicBezTo>
                  <a:cubicBezTo>
                    <a:pt x="685" y="16"/>
                    <a:pt x="647" y="1"/>
                    <a:pt x="605" y="1"/>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333" name="Google Shape;333;p50"/>
            <p:cNvSpPr/>
            <p:nvPr/>
          </p:nvSpPr>
          <p:spPr>
            <a:xfrm>
              <a:off x="6527099" y="4030191"/>
              <a:ext cx="23139" cy="22661"/>
            </a:xfrm>
            <a:custGeom>
              <a:rect b="b" l="l" r="r" t="t"/>
              <a:pathLst>
                <a:path extrusionOk="0" h="712" w="727">
                  <a:moveTo>
                    <a:pt x="183" y="1"/>
                  </a:moveTo>
                  <a:cubicBezTo>
                    <a:pt x="140" y="1"/>
                    <a:pt x="96" y="15"/>
                    <a:pt x="60" y="45"/>
                  </a:cubicBezTo>
                  <a:cubicBezTo>
                    <a:pt x="0" y="105"/>
                    <a:pt x="0" y="212"/>
                    <a:pt x="60" y="283"/>
                  </a:cubicBezTo>
                  <a:lnTo>
                    <a:pt x="429" y="664"/>
                  </a:lnTo>
                  <a:cubicBezTo>
                    <a:pt x="466" y="696"/>
                    <a:pt x="505" y="711"/>
                    <a:pt x="543" y="711"/>
                  </a:cubicBezTo>
                  <a:cubicBezTo>
                    <a:pt x="590" y="711"/>
                    <a:pt x="634" y="687"/>
                    <a:pt x="667" y="641"/>
                  </a:cubicBezTo>
                  <a:cubicBezTo>
                    <a:pt x="727" y="569"/>
                    <a:pt x="727" y="486"/>
                    <a:pt x="667" y="426"/>
                  </a:cubicBezTo>
                  <a:lnTo>
                    <a:pt x="298" y="45"/>
                  </a:lnTo>
                  <a:cubicBezTo>
                    <a:pt x="268" y="15"/>
                    <a:pt x="227" y="1"/>
                    <a:pt x="183" y="1"/>
                  </a:cubicBezTo>
                  <a:close/>
                </a:path>
              </a:pathLst>
            </a:custGeom>
            <a:solidFill>
              <a:srgbClr val="5868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7" name="Shape 337"/>
        <p:cNvGrpSpPr/>
        <p:nvPr/>
      </p:nvGrpSpPr>
      <p:grpSpPr>
        <a:xfrm>
          <a:off x="0" y="0"/>
          <a:ext cx="0" cy="0"/>
          <a:chOff x="0" y="0"/>
          <a:chExt cx="0" cy="0"/>
        </a:xfrm>
      </p:grpSpPr>
      <p:sp>
        <p:nvSpPr>
          <p:cNvPr id="338" name="Google Shape;338;p51"/>
          <p:cNvSpPr/>
          <p:nvPr/>
        </p:nvSpPr>
        <p:spPr>
          <a:xfrm>
            <a:off x="311700" y="337050"/>
            <a:ext cx="8520600" cy="4469400"/>
          </a:xfrm>
          <a:prstGeom prst="rect">
            <a:avLst/>
          </a:prstGeom>
          <a:solidFill>
            <a:srgbClr val="D2D2D2"/>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9" name="Google Shape;339;p51"/>
          <p:cNvSpPr txBox="1"/>
          <p:nvPr>
            <p:ph type="title"/>
          </p:nvPr>
        </p:nvSpPr>
        <p:spPr>
          <a:xfrm>
            <a:off x="311700" y="1590000"/>
            <a:ext cx="85206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5100">
                <a:latin typeface="Merriweather"/>
                <a:ea typeface="Merriweather"/>
                <a:cs typeface="Merriweather"/>
                <a:sym typeface="Merriweather"/>
              </a:rPr>
              <a:t>Questions? </a:t>
            </a:r>
            <a:endParaRPr b="1" sz="5100">
              <a:latin typeface="Merriweather"/>
              <a:ea typeface="Merriweather"/>
              <a:cs typeface="Merriweather"/>
              <a:sym typeface="Merriweath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